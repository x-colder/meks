
<file path=[Content_Types].xml><?xml version="1.0" encoding="utf-8"?>
<Types xmlns="http://schemas.openxmlformats.org/package/2006/content-types"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Layouts/slideLayout1.xml" ContentType="application/vnd.openxmlformats-officedocument.presentationml.slideLayout+xml"/>
  <Override PartName="/ppt/theme/theme1.xml" ContentType="application/vnd.openxmlformats-officedocument.theme+xml"/>
  <Override PartName="/docProps/core.xml" ContentType="application/vnd.openxmlformats-package.core-properties+xml"/>
  <Override PartName="/docProps/app.xml" ContentType="application/vnd.openxmlformats-officedocument.extended-properties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</Types>
</file>

<file path=_rels/.rels><?xml version="1.0" encoding="UTF-8" standalone="yes"?>
<Relationships xmlns="http://schemas.openxmlformats.org/package/2006/relationships">
  <Relationship Id="rId1" Type="http://schemas.openxmlformats.org/officeDocument/2006/relationships/officeDocument" Target="ppt/presentation.xml"/>
  <Relationship Id="rId2" Type="http://schemas.openxmlformats.org/package/2006/relationships/metadata/core-properties" Target="docProps/core.xml"/>
  <Relationship Id="rId3" Type="http://schemas.openxmlformats.org/officeDocument/2006/relationships/extended-properties" Target="docProps/app.xml"/>
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</p:sldIdLst>
  <p:sldSz cx="12192000" cy="6858000" type="screen16x9"/>
  <p:notesSz cx="6858000" cy="9144000"/>
</p:presentation>
</file>

<file path=ppt/_rels/presentation.xml.rels><?xml version="1.0" encoding="UTF-8" standalone="yes"?>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slide" Target="slides/slide16.xml"/><Relationship Id="rId18" Type="http://schemas.openxmlformats.org/officeDocument/2006/relationships/slide" Target="slides/slide17.xml"/></Relationships>
</file>

<file path=ppt/slideLayouts/_rels/slideLayout1.xml.rels><?xml version="1.0" encoding="UTF-8" standalone="yes"?><Relationships xmlns="http://schemas.openxmlformats.org/package/2006/relationships">
<Relationship Id="rId1" Type="http://schemas.openxmlformats.org/officeDocument/2006/relationships/slideMaster" Target="../slideMasters/slideMaster1.xml"/>
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<Relationships xmlns="http://schemas.openxmlformats.org/package/2006/relationships">
<Relationship Id="rId1" Type="http://schemas.openxmlformats.org/officeDocument/2006/relationships/slideLayout" Target="../slideLayouts/slideLayout1.xml"/>
<Relationship Id="rId2" Type="http://schemas.openxmlformats.org/officeDocument/2006/relationships/theme" Target="../theme/theme1.xml"/>
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txStyles>
    <p:titleStyle/>
    <p:bodyStyle/>
    <p:otherStyle/>
  </p:txStyles>
</p:sldMaster>
</file>

<file path=ppt/slides/_rels/slide1.xml.rels><?xml version="1.0" encoding="UTF-8" standalone="yes"?><Relationships xmlns="http://schemas.openxmlformats.org/package/2006/relationships"/>
</file>

<file path=ppt/slides/_rels/slide2.xml.rels><?xml version="1.0" encoding="UTF-8" standalone="yes"?><Relationships xmlns="http://schemas.openxmlformats.org/package/2006/relationships"/>
</file>

<file path=ppt/slides/_rels/slide3.xml.rels><?xml version="1.0" encoding="UTF-8" standalone="yes"?><Relationships xmlns="http://schemas.openxmlformats.org/package/2006/relationships"/>
</file>

<file path=ppt/slides/_rels/slide4.xml.rels><?xml version="1.0" encoding="UTF-8" standalone="yes"?><Relationships xmlns="http://schemas.openxmlformats.org/package/2006/relationships"/>
</file>

<file path=ppt/slides/_rels/slide5.xml.rels><?xml version="1.0" encoding="UTF-8" standalone="yes"?><Relationships xmlns="http://schemas.openxmlformats.org/package/2006/relationships"/>
</file>

<file path=ppt/slides/_rels/slide6.xml.rels><?xml version="1.0" encoding="UTF-8" standalone="yes"?><Relationships xmlns="http://schemas.openxmlformats.org/package/2006/relationships"/>
</file>

<file path=ppt/slides/_rels/slide7.xml.rels><?xml version="1.0" encoding="UTF-8" standalone="yes"?><Relationships xmlns="http://schemas.openxmlformats.org/package/2006/relationships"/>
</file>

<file path=ppt/slides/_rels/slide8.xml.rels><?xml version="1.0" encoding="UTF-8" standalone="yes"?><Relationships xmlns="http://schemas.openxmlformats.org/package/2006/relationships"/>
</file>

<file path=ppt/slides/_rels/slide9.xml.rels><?xml version="1.0" encoding="UTF-8" standalone="yes"?><Relationships xmlns="http://schemas.openxmlformats.org/package/2006/relationships"/>
</file>

<file path=ppt/slides/_rels/slide10.xml.rels><?xml version="1.0" encoding="UTF-8" standalone="yes"?><Relationships xmlns="http://schemas.openxmlformats.org/package/2006/relationships"/>
</file>

<file path=ppt/slides/_rels/slide11.xml.rels><?xml version="1.0" encoding="UTF-8" standalone="yes"?><Relationships xmlns="http://schemas.openxmlformats.org/package/2006/relationships"/>
</file>

<file path=ppt/slides/_rels/slide12.xml.rels><?xml version="1.0" encoding="UTF-8" standalone="yes"?><Relationships xmlns="http://schemas.openxmlformats.org/package/2006/relationships"/>
</file>

<file path=ppt/slides/_rels/slide13.xml.rels><?xml version="1.0" encoding="UTF-8" standalone="yes"?><Relationships xmlns="http://schemas.openxmlformats.org/package/2006/relationships"/>
</file>

<file path=ppt/slides/_rels/slide14.xml.rels><?xml version="1.0" encoding="UTF-8" standalone="yes"?><Relationships xmlns="http://schemas.openxmlformats.org/package/2006/relationships"/>
</file>

<file path=ppt/slides/_rels/slide15.xml.rels><?xml version="1.0" encoding="UTF-8" standalone="yes"?><Relationships xmlns="http://schemas.openxmlformats.org/package/2006/relationships"/>
</file>

<file path=ppt/slides/_rels/slide16.xml.rels><?xml version="1.0" encoding="UTF-8" standalone="yes"?><Relationships xmlns="http://schemas.openxmlformats.org/package/2006/relationships"/>
</file>

<file path=ppt/slides/_rels/slide17.xml.rels><?xml version="1.0" encoding="UTF-8" standalone="yes"?><Relationships xmlns="http://schemas.openxmlformats.org/package/2006/relationships"/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7FA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2"/>
          <p:cNvSpPr txBox="1"/>
          <p:nvPr/>
        </p:nvSpPr>
        <p:spPr>
          <a:xfrm>
            <a:off x="594360" y="502920"/>
            <a:ext cx="3017520" cy="475488"/>
          </a:xfrm>
          <a:prstGeom prst="roundRect">
            <a:avLst/>
          </a:prstGeom>
          <a:solidFill>
            <a:srgbClr val="1677FF"/>
          </a:solidFill>
          <a:ln>
            <a:noFill/>
          </a:ln>
        </p:spPr>
        <p:txBody>
          <a:bodyPr wrap="square" lIns="91440" tIns="45720" rIns="91440" bIns="45720"/>
          <a:lstStyle/>
          <a:p>
            <a:pPr algn="ctr">
              <a:lnSpc>
                <a:spcPct val="110000"/>
              </a:lnSpc>
            </a:pPr>
            <a:r>
              <a:rPr lang="zh-CN" sz="2400" b="1">
                <a:solidFill>
                  <a:srgbClr val="FFFFFF"/>
                </a:solidFill>
                <a:latin typeface="Microsoft YaHei"/>
                <a:ea typeface="Microsoft YaHei"/>
              </a:rPr>
              <a:t>MEKS</a:t>
            </a:r>
          </a:p>
        </p:txBody>
      </p:sp>
      <p:sp>
        <p:nvSpPr>
          <p:cNvPr id="3" name="Shape 3"/>
          <p:cNvSpPr txBox="1"/>
          <p:nvPr/>
        </p:nvSpPr>
        <p:spPr>
          <a:xfrm>
            <a:off x="594360" y="1325880"/>
            <a:ext cx="8138160" cy="1234440"/>
          </a:xfrm>
          <a:prstGeom prst="roundRect">
            <a:avLst/>
          </a:prstGeom>
          <a:noFill/>
          <a:ln>
            <a:noFill/>
          </a:ln>
        </p:spPr>
        <p:txBody>
          <a:bodyPr wrap="square" lIns="91440" tIns="45720" rIns="91440" bIns="45720"/>
          <a:lstStyle/>
          <a:p>
            <a:pPr algn="l">
              <a:lnSpc>
                <a:spcPct val="110000"/>
              </a:lnSpc>
            </a:pPr>
            <a:r>
              <a:rPr lang="zh-CN" sz="3800" b="1">
                <a:solidFill>
                  <a:srgbClr val="111827"/>
                </a:solidFill>
                <a:latin typeface="Microsoft YaHei"/>
                <a:ea typeface="Microsoft YaHei"/>
              </a:rPr>
              <a:t>医生科研与医学知识工作台</a:t>
            </a:r>
          </a:p>
        </p:txBody>
      </p:sp>
      <p:sp>
        <p:nvSpPr>
          <p:cNvPr id="4" name="Shape 4"/>
          <p:cNvSpPr txBox="1"/>
          <p:nvPr/>
        </p:nvSpPr>
        <p:spPr>
          <a:xfrm>
            <a:off x="658368" y="2651760"/>
            <a:ext cx="8412480" cy="548640"/>
          </a:xfrm>
          <a:prstGeom prst="roundRect">
            <a:avLst/>
          </a:prstGeom>
          <a:noFill/>
          <a:ln>
            <a:noFill/>
          </a:ln>
        </p:spPr>
        <p:txBody>
          <a:bodyPr wrap="square" lIns="91440" tIns="45720" rIns="91440" bIns="45720"/>
          <a:lstStyle/>
          <a:p>
            <a:pPr algn="l">
              <a:lnSpc>
                <a:spcPct val="110000"/>
              </a:lnSpc>
            </a:pPr>
            <a:r>
              <a:rPr lang="zh-CN" sz="1800">
                <a:solidFill>
                  <a:srgbClr val="374151"/>
                </a:solidFill>
                <a:latin typeface="Microsoft YaHei"/>
                <a:ea typeface="Microsoft YaHei"/>
              </a:rPr>
              <a:t>让 AI 主动完成文献发现、可信度判断、科研设计和写作辅助，医生保留判断权与编辑权</a:t>
            </a:r>
          </a:p>
        </p:txBody>
      </p:sp>
      <p:sp>
        <p:nvSpPr>
          <p:cNvPr id="5" name="Shape 5"/>
          <p:cNvSpPr txBox="1"/>
          <p:nvPr/>
        </p:nvSpPr>
        <p:spPr>
          <a:xfrm>
            <a:off x="731520" y="3886200"/>
            <a:ext cx="2011680" cy="713232"/>
          </a:xfrm>
          <a:prstGeom prst="roundRect">
            <a:avLst/>
          </a:prstGeom>
          <a:solidFill>
            <a:srgbClr val="EAF2FF"/>
          </a:solidFill>
          <a:ln w="12700">
            <a:solidFill>
              <a:srgbClr val="BBD6FF"/>
            </a:solidFill>
          </a:ln>
        </p:spPr>
        <p:txBody>
          <a:bodyPr wrap="square" lIns="91440" tIns="45720" rIns="91440" bIns="45720"/>
          <a:lstStyle/>
          <a:p>
            <a:pPr algn="ctr">
              <a:lnSpc>
                <a:spcPct val="110000"/>
              </a:lnSpc>
            </a:pPr>
            <a:r>
              <a:rPr lang="zh-CN" sz="1600" b="1">
                <a:solidFill>
                  <a:srgbClr val="1F2937"/>
                </a:solidFill>
                <a:latin typeface="Microsoft YaHei"/>
                <a:ea typeface="Microsoft YaHei"/>
              </a:rPr>
              <a:t>前沿追踪</a:t>
            </a:r>
          </a:p>
        </p:txBody>
      </p:sp>
      <p:sp>
        <p:nvSpPr>
          <p:cNvPr id="6" name="Shape 6"/>
          <p:cNvSpPr txBox="1"/>
          <p:nvPr/>
        </p:nvSpPr>
        <p:spPr>
          <a:xfrm>
            <a:off x="2971800" y="3886200"/>
            <a:ext cx="2011680" cy="713232"/>
          </a:xfrm>
          <a:prstGeom prst="roundRect">
            <a:avLst/>
          </a:prstGeom>
          <a:solidFill>
            <a:srgbClr val="ECFDF5"/>
          </a:solidFill>
          <a:ln w="12700">
            <a:solidFill>
              <a:srgbClr val="A7F3D0"/>
            </a:solidFill>
          </a:ln>
        </p:spPr>
        <p:txBody>
          <a:bodyPr wrap="square" lIns="91440" tIns="45720" rIns="91440" bIns="45720"/>
          <a:lstStyle/>
          <a:p>
            <a:pPr algn="ctr">
              <a:lnSpc>
                <a:spcPct val="110000"/>
              </a:lnSpc>
            </a:pPr>
            <a:r>
              <a:rPr lang="zh-CN" sz="1600" b="1">
                <a:solidFill>
                  <a:srgbClr val="1F2937"/>
                </a:solidFill>
                <a:latin typeface="Microsoft YaHei"/>
                <a:ea typeface="Microsoft YaHei"/>
              </a:rPr>
              <a:t>科研设计</a:t>
            </a:r>
          </a:p>
        </p:txBody>
      </p:sp>
      <p:sp>
        <p:nvSpPr>
          <p:cNvPr id="7" name="Shape 7"/>
          <p:cNvSpPr txBox="1"/>
          <p:nvPr/>
        </p:nvSpPr>
        <p:spPr>
          <a:xfrm>
            <a:off x="5212080" y="3886200"/>
            <a:ext cx="2011680" cy="713232"/>
          </a:xfrm>
          <a:prstGeom prst="roundRect">
            <a:avLst/>
          </a:prstGeom>
          <a:solidFill>
            <a:srgbClr val="FFF7ED"/>
          </a:solidFill>
          <a:ln w="12700">
            <a:solidFill>
              <a:srgbClr val="FED7AA"/>
            </a:solidFill>
          </a:ln>
        </p:spPr>
        <p:txBody>
          <a:bodyPr wrap="square" lIns="91440" tIns="45720" rIns="91440" bIns="45720"/>
          <a:lstStyle/>
          <a:p>
            <a:pPr algn="ctr">
              <a:lnSpc>
                <a:spcPct val="110000"/>
              </a:lnSpc>
            </a:pPr>
            <a:r>
              <a:rPr lang="zh-CN" sz="1600" b="1">
                <a:solidFill>
                  <a:srgbClr val="1F2937"/>
                </a:solidFill>
                <a:latin typeface="Microsoft YaHei"/>
                <a:ea typeface="Microsoft YaHei"/>
              </a:rPr>
              <a:t>论文写作</a:t>
            </a:r>
          </a:p>
        </p:txBody>
      </p:sp>
      <p:sp>
        <p:nvSpPr>
          <p:cNvPr id="8" name="Shape 8"/>
          <p:cNvSpPr txBox="1"/>
          <p:nvPr/>
        </p:nvSpPr>
        <p:spPr>
          <a:xfrm>
            <a:off x="7452360" y="3886200"/>
            <a:ext cx="2011680" cy="713232"/>
          </a:xfrm>
          <a:prstGeom prst="roundRect">
            <a:avLst/>
          </a:prstGeom>
          <a:solidFill>
            <a:srgbClr val="F5F3FF"/>
          </a:solidFill>
          <a:ln w="12700">
            <a:solidFill>
              <a:srgbClr val="DDD6FE"/>
            </a:solidFill>
          </a:ln>
        </p:spPr>
        <p:txBody>
          <a:bodyPr wrap="square" lIns="91440" tIns="45720" rIns="91440" bIns="45720"/>
          <a:lstStyle/>
          <a:p>
            <a:pPr algn="ctr">
              <a:lnSpc>
                <a:spcPct val="110000"/>
              </a:lnSpc>
            </a:pPr>
            <a:r>
              <a:rPr lang="zh-CN" sz="1600" b="1">
                <a:solidFill>
                  <a:srgbClr val="1F2937"/>
                </a:solidFill>
                <a:latin typeface="Microsoft YaHei"/>
                <a:ea typeface="Microsoft YaHei"/>
              </a:rPr>
              <a:t>安全私有化</a:t>
            </a:r>
          </a:p>
        </p:txBody>
      </p:sp>
      <p:sp>
        <p:nvSpPr>
          <p:cNvPr id="9" name="Shape 9"/>
          <p:cNvSpPr txBox="1"/>
          <p:nvPr/>
        </p:nvSpPr>
        <p:spPr>
          <a:xfrm>
            <a:off x="8823960" y="502920"/>
            <a:ext cx="2286000" cy="448056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5E7EB"/>
            </a:solidFill>
          </a:ln>
        </p:spPr>
        <p:txBody>
          <a:bodyPr wrap="square" lIns="91440" tIns="45720" rIns="91440" bIns="45720"/>
          <a:lstStyle/>
          <a:p>
            <a:pPr algn="ctr">
              <a:lnSpc>
                <a:spcPct val="110000"/>
              </a:lnSpc>
            </a:pPr>
            <a:r>
              <a:rPr lang="zh-CN" sz="2200" b="1">
                <a:solidFill>
                  <a:srgbClr val="1F2937"/>
                </a:solidFill>
                <a:latin typeface="Microsoft YaHei"/>
                <a:ea typeface="Microsoft YaHei"/>
              </a:rPr>
              <a:t>AI</a:t>
            </a:r>
          </a:p>
          <a:p>
            <a:pPr algn="ctr">
              <a:lnSpc>
                <a:spcPct val="110000"/>
              </a:lnSpc>
            </a:pPr>
            <a:r>
              <a:rPr lang="zh-CN" sz="2200" b="1">
                <a:solidFill>
                  <a:srgbClr val="1F2937"/>
                </a:solidFill>
                <a:latin typeface="Microsoft YaHei"/>
                <a:ea typeface="Microsoft YaHei"/>
              </a:rPr>
              <a:t>医学文献</a:t>
            </a:r>
          </a:p>
          <a:p>
            <a:pPr algn="ctr">
              <a:lnSpc>
                <a:spcPct val="110000"/>
              </a:lnSpc>
            </a:pPr>
            <a:r>
              <a:rPr lang="zh-CN" sz="2200" b="1">
                <a:solidFill>
                  <a:srgbClr val="1F2937"/>
                </a:solidFill>
                <a:latin typeface="Microsoft YaHei"/>
                <a:ea typeface="Microsoft YaHei"/>
              </a:rPr>
              <a:t>病例数据</a:t>
            </a:r>
          </a:p>
          <a:p>
            <a:pPr algn="ctr">
              <a:lnSpc>
                <a:spcPct val="110000"/>
              </a:lnSpc>
            </a:pPr>
            <a:r>
              <a:rPr lang="zh-CN" sz="2200" b="1">
                <a:solidFill>
                  <a:srgbClr val="1F2937"/>
                </a:solidFill>
                <a:latin typeface="Microsoft YaHei"/>
                <a:ea typeface="Microsoft YaHei"/>
              </a:rPr>
              <a:t>论文草稿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7F9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00" name="Shape 900"/>
          <p:cNvSpPr txBox="1"/>
          <p:nvPr/>
        </p:nvSpPr>
        <p:spPr>
          <a:xfrm>
            <a:off x="411480" y="256032"/>
            <a:ext cx="164592" cy="411480"/>
          </a:xfrm>
          <a:prstGeom prst="rect">
            <a:avLst/>
          </a:prstGeom>
          <a:solidFill>
            <a:srgbClr val="1677FF"/>
          </a:solidFill>
          <a:ln>
            <a:noFill/>
          </a:ln>
        </p:spPr>
        <p:txBody>
          <a:bodyPr/>
          <a:lstStyle/>
          <a:p/>
        </p:txBody>
      </p:sp>
      <p:sp>
        <p:nvSpPr>
          <p:cNvPr id="901" name="Shape 901"/>
          <p:cNvSpPr txBox="1"/>
          <p:nvPr/>
        </p:nvSpPr>
        <p:spPr>
          <a:xfrm>
            <a:off x="658368" y="201168"/>
            <a:ext cx="8046720" cy="411480"/>
          </a:xfrm>
          <a:prstGeom prst="roundRect">
            <a:avLst/>
          </a:prstGeom>
          <a:noFill/>
          <a:ln>
            <a:noFill/>
          </a:ln>
        </p:spPr>
        <p:txBody>
          <a:bodyPr wrap="square" lIns="91440" tIns="45720" rIns="91440" bIns="45720"/>
          <a:lstStyle/>
          <a:p>
            <a:pPr algn="l">
              <a:lnSpc>
                <a:spcPct val="110000"/>
              </a:lnSpc>
            </a:pPr>
            <a:r>
              <a:rPr lang="zh-CN" sz="2500" b="1">
                <a:solidFill>
                  <a:srgbClr val="111827"/>
                </a:solidFill>
                <a:latin typeface="Microsoft YaHei"/>
                <a:ea typeface="Microsoft YaHei"/>
              </a:rPr>
              <a:t>医生科研的真实痛点</a:t>
            </a:r>
          </a:p>
        </p:txBody>
      </p:sp>
      <p:sp>
        <p:nvSpPr>
          <p:cNvPr id="902" name="Shape 902"/>
          <p:cNvSpPr txBox="1"/>
          <p:nvPr/>
        </p:nvSpPr>
        <p:spPr>
          <a:xfrm>
            <a:off x="658368" y="621792"/>
            <a:ext cx="9601200" cy="320040"/>
          </a:xfrm>
          <a:prstGeom prst="roundRect">
            <a:avLst/>
          </a:prstGeom>
          <a:noFill/>
          <a:ln>
            <a:noFill/>
          </a:ln>
        </p:spPr>
        <p:txBody>
          <a:bodyPr wrap="square" lIns="91440" tIns="45720" rIns="91440" bIns="45720"/>
          <a:lstStyle/>
          <a:p>
            <a:pPr algn="l">
              <a:lnSpc>
                <a:spcPct val="110000"/>
              </a:lnSpc>
            </a:pPr>
            <a:r>
              <a:rPr lang="zh-CN" sz="1100">
                <a:solidFill>
                  <a:srgbClr val="6B7280"/>
                </a:solidFill>
                <a:latin typeface="Microsoft YaHei"/>
                <a:ea typeface="Microsoft YaHei"/>
              </a:rPr>
              <a:t>不是缺少信息，而是缺少把信息转化为论文和课题的工作流</a:t>
            </a:r>
          </a:p>
        </p:txBody>
      </p:sp>
      <p:sp>
        <p:nvSpPr>
          <p:cNvPr id="10" name="Shape 10"/>
          <p:cNvSpPr txBox="1"/>
          <p:nvPr/>
        </p:nvSpPr>
        <p:spPr>
          <a:xfrm>
            <a:off x="731520" y="1234440"/>
            <a:ext cx="2057400" cy="105156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5E7EB"/>
            </a:solidFill>
          </a:ln>
        </p:spPr>
        <p:txBody>
          <a:bodyPr/>
          <a:lstStyle/>
          <a:p/>
        </p:txBody>
      </p:sp>
      <p:sp>
        <p:nvSpPr>
          <p:cNvPr id="11" name="Shape 11"/>
          <p:cNvSpPr txBox="1"/>
          <p:nvPr/>
        </p:nvSpPr>
        <p:spPr>
          <a:xfrm>
            <a:off x="896112" y="1362456"/>
            <a:ext cx="512064" cy="512064"/>
          </a:xfrm>
          <a:prstGeom prst="ellipse">
            <a:avLst/>
          </a:prstGeom>
          <a:solidFill>
            <a:srgbClr val="1677FF"/>
          </a:solidFill>
          <a:ln>
            <a:noFill/>
          </a:ln>
        </p:spPr>
        <p:txBody>
          <a:bodyPr wrap="square" lIns="91440" tIns="45720" rIns="91440" bIns="45720"/>
          <a:lstStyle/>
          <a:p>
            <a:pPr algn="ctr">
              <a:lnSpc>
                <a:spcPct val="110000"/>
              </a:lnSpc>
            </a:pPr>
            <a:r>
              <a:rPr lang="zh-CN" sz="1200" b="1">
                <a:solidFill>
                  <a:srgbClr val="FFFFFF"/>
                </a:solidFill>
                <a:latin typeface="Microsoft YaHei"/>
                <a:ea typeface="Microsoft YaHei"/>
              </a:rPr>
              <a:t>01</a:t>
            </a:r>
          </a:p>
        </p:txBody>
      </p:sp>
      <p:sp>
        <p:nvSpPr>
          <p:cNvPr id="12" name="Shape 12"/>
          <p:cNvSpPr txBox="1"/>
          <p:nvPr/>
        </p:nvSpPr>
        <p:spPr>
          <a:xfrm>
            <a:off x="1508760" y="1344168"/>
            <a:ext cx="1143000" cy="256032"/>
          </a:xfrm>
          <a:prstGeom prst="roundRect">
            <a:avLst/>
          </a:prstGeom>
          <a:noFill/>
          <a:ln>
            <a:noFill/>
          </a:ln>
        </p:spPr>
        <p:txBody>
          <a:bodyPr wrap="square" lIns="91440" tIns="45720" rIns="91440" bIns="45720"/>
          <a:lstStyle/>
          <a:p>
            <a:pPr algn="l">
              <a:lnSpc>
                <a:spcPct val="110000"/>
              </a:lnSpc>
            </a:pPr>
            <a:r>
              <a:rPr lang="zh-CN" sz="1300" b="1">
                <a:solidFill>
                  <a:srgbClr val="1F2937"/>
                </a:solidFill>
                <a:latin typeface="Microsoft YaHei"/>
                <a:ea typeface="Microsoft YaHei"/>
              </a:rPr>
              <a:t>文献太多</a:t>
            </a:r>
          </a:p>
        </p:txBody>
      </p:sp>
      <p:sp>
        <p:nvSpPr>
          <p:cNvPr id="13" name="Shape 13"/>
          <p:cNvSpPr txBox="1"/>
          <p:nvPr/>
        </p:nvSpPr>
        <p:spPr>
          <a:xfrm>
            <a:off x="1508760" y="1673352"/>
            <a:ext cx="1143000" cy="347472"/>
          </a:xfrm>
          <a:prstGeom prst="roundRect">
            <a:avLst/>
          </a:prstGeom>
          <a:noFill/>
          <a:ln>
            <a:noFill/>
          </a:ln>
        </p:spPr>
        <p:txBody>
          <a:bodyPr wrap="square" lIns="91440" tIns="45720" rIns="91440" bIns="45720"/>
          <a:lstStyle/>
          <a:p>
            <a:pPr algn="l">
              <a:lnSpc>
                <a:spcPct val="110000"/>
              </a:lnSpc>
            </a:pPr>
            <a:r>
              <a:rPr lang="zh-CN" sz="900">
                <a:solidFill>
                  <a:srgbClr val="6B7280"/>
                </a:solidFill>
                <a:latin typeface="Microsoft YaHei"/>
                <a:ea typeface="Microsoft YaHei"/>
              </a:rPr>
              <a:t>每天都有新论文，医生很难持续追踪</a:t>
            </a:r>
          </a:p>
        </p:txBody>
      </p:sp>
      <p:sp>
        <p:nvSpPr>
          <p:cNvPr id="20" name="Shape 20"/>
          <p:cNvSpPr txBox="1"/>
          <p:nvPr/>
        </p:nvSpPr>
        <p:spPr>
          <a:xfrm>
            <a:off x="3063240" y="1234440"/>
            <a:ext cx="2057400" cy="105156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5E7EB"/>
            </a:solidFill>
          </a:ln>
        </p:spPr>
        <p:txBody>
          <a:bodyPr/>
          <a:lstStyle/>
          <a:p/>
        </p:txBody>
      </p:sp>
      <p:sp>
        <p:nvSpPr>
          <p:cNvPr id="21" name="Shape 21"/>
          <p:cNvSpPr txBox="1"/>
          <p:nvPr/>
        </p:nvSpPr>
        <p:spPr>
          <a:xfrm>
            <a:off x="3227832" y="1362456"/>
            <a:ext cx="512064" cy="512064"/>
          </a:xfrm>
          <a:prstGeom prst="ellipse">
            <a:avLst/>
          </a:prstGeom>
          <a:solidFill>
            <a:srgbClr val="10B981"/>
          </a:solidFill>
          <a:ln>
            <a:noFill/>
          </a:ln>
        </p:spPr>
        <p:txBody>
          <a:bodyPr wrap="square" lIns="91440" tIns="45720" rIns="91440" bIns="45720"/>
          <a:lstStyle/>
          <a:p>
            <a:pPr algn="ctr">
              <a:lnSpc>
                <a:spcPct val="110000"/>
              </a:lnSpc>
            </a:pPr>
            <a:r>
              <a:rPr lang="zh-CN" sz="1200" b="1">
                <a:solidFill>
                  <a:srgbClr val="FFFFFF"/>
                </a:solidFill>
                <a:latin typeface="Microsoft YaHei"/>
                <a:ea typeface="Microsoft YaHei"/>
              </a:rPr>
              <a:t>02</a:t>
            </a:r>
          </a:p>
        </p:txBody>
      </p:sp>
      <p:sp>
        <p:nvSpPr>
          <p:cNvPr id="22" name="Shape 22"/>
          <p:cNvSpPr txBox="1"/>
          <p:nvPr/>
        </p:nvSpPr>
        <p:spPr>
          <a:xfrm>
            <a:off x="3840480" y="1344168"/>
            <a:ext cx="1143000" cy="256032"/>
          </a:xfrm>
          <a:prstGeom prst="roundRect">
            <a:avLst/>
          </a:prstGeom>
          <a:noFill/>
          <a:ln>
            <a:noFill/>
          </a:ln>
        </p:spPr>
        <p:txBody>
          <a:bodyPr wrap="square" lIns="91440" tIns="45720" rIns="91440" bIns="45720"/>
          <a:lstStyle/>
          <a:p>
            <a:pPr algn="l">
              <a:lnSpc>
                <a:spcPct val="110000"/>
              </a:lnSpc>
            </a:pPr>
            <a:r>
              <a:rPr lang="zh-CN" sz="1300" b="1">
                <a:solidFill>
                  <a:srgbClr val="1F2937"/>
                </a:solidFill>
                <a:latin typeface="Microsoft YaHei"/>
                <a:ea typeface="Microsoft YaHei"/>
              </a:rPr>
              <a:t>时间太少</a:t>
            </a:r>
          </a:p>
        </p:txBody>
      </p:sp>
      <p:sp>
        <p:nvSpPr>
          <p:cNvPr id="23" name="Shape 23"/>
          <p:cNvSpPr txBox="1"/>
          <p:nvPr/>
        </p:nvSpPr>
        <p:spPr>
          <a:xfrm>
            <a:off x="3840480" y="1673352"/>
            <a:ext cx="1143000" cy="347472"/>
          </a:xfrm>
          <a:prstGeom prst="roundRect">
            <a:avLst/>
          </a:prstGeom>
          <a:noFill/>
          <a:ln>
            <a:noFill/>
          </a:ln>
        </p:spPr>
        <p:txBody>
          <a:bodyPr wrap="square" lIns="91440" tIns="45720" rIns="91440" bIns="45720"/>
          <a:lstStyle/>
          <a:p>
            <a:pPr algn="l">
              <a:lnSpc>
                <a:spcPct val="110000"/>
              </a:lnSpc>
            </a:pPr>
            <a:r>
              <a:rPr lang="zh-CN" sz="900">
                <a:solidFill>
                  <a:srgbClr val="6B7280"/>
                </a:solidFill>
                <a:latin typeface="Microsoft YaHei"/>
                <a:ea typeface="Microsoft YaHei"/>
              </a:rPr>
              <a:t>临床工作挤压科研阅读和写作时间</a:t>
            </a:r>
          </a:p>
        </p:txBody>
      </p:sp>
      <p:sp>
        <p:nvSpPr>
          <p:cNvPr id="30" name="Shape 30"/>
          <p:cNvSpPr txBox="1"/>
          <p:nvPr/>
        </p:nvSpPr>
        <p:spPr>
          <a:xfrm>
            <a:off x="5394960" y="1234440"/>
            <a:ext cx="2057400" cy="105156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5E7EB"/>
            </a:solidFill>
          </a:ln>
        </p:spPr>
        <p:txBody>
          <a:bodyPr/>
          <a:lstStyle/>
          <a:p/>
        </p:txBody>
      </p:sp>
      <p:sp>
        <p:nvSpPr>
          <p:cNvPr id="31" name="Shape 31"/>
          <p:cNvSpPr txBox="1"/>
          <p:nvPr/>
        </p:nvSpPr>
        <p:spPr>
          <a:xfrm>
            <a:off x="5559552" y="1362456"/>
            <a:ext cx="512064" cy="512064"/>
          </a:xfrm>
          <a:prstGeom prst="ellipse">
            <a:avLst/>
          </a:prstGeom>
          <a:solidFill>
            <a:srgbClr val="F59E0B"/>
          </a:solidFill>
          <a:ln>
            <a:noFill/>
          </a:ln>
        </p:spPr>
        <p:txBody>
          <a:bodyPr wrap="square" lIns="91440" tIns="45720" rIns="91440" bIns="45720"/>
          <a:lstStyle/>
          <a:p>
            <a:pPr algn="ctr">
              <a:lnSpc>
                <a:spcPct val="110000"/>
              </a:lnSpc>
            </a:pPr>
            <a:r>
              <a:rPr lang="zh-CN" sz="1200" b="1">
                <a:solidFill>
                  <a:srgbClr val="FFFFFF"/>
                </a:solidFill>
                <a:latin typeface="Microsoft YaHei"/>
                <a:ea typeface="Microsoft YaHei"/>
              </a:rPr>
              <a:t>03</a:t>
            </a:r>
          </a:p>
        </p:txBody>
      </p:sp>
      <p:sp>
        <p:nvSpPr>
          <p:cNvPr id="32" name="Shape 32"/>
          <p:cNvSpPr txBox="1"/>
          <p:nvPr/>
        </p:nvSpPr>
        <p:spPr>
          <a:xfrm>
            <a:off x="6172200" y="1344168"/>
            <a:ext cx="1143000" cy="256032"/>
          </a:xfrm>
          <a:prstGeom prst="roundRect">
            <a:avLst/>
          </a:prstGeom>
          <a:noFill/>
          <a:ln>
            <a:noFill/>
          </a:ln>
        </p:spPr>
        <p:txBody>
          <a:bodyPr wrap="square" lIns="91440" tIns="45720" rIns="91440" bIns="45720"/>
          <a:lstStyle/>
          <a:p>
            <a:pPr algn="l">
              <a:lnSpc>
                <a:spcPct val="110000"/>
              </a:lnSpc>
            </a:pPr>
            <a:r>
              <a:rPr lang="zh-CN" sz="1300" b="1">
                <a:solidFill>
                  <a:srgbClr val="1F2937"/>
                </a:solidFill>
                <a:latin typeface="Microsoft YaHei"/>
                <a:ea typeface="Microsoft YaHei"/>
              </a:rPr>
              <a:t>数据难用</a:t>
            </a:r>
          </a:p>
        </p:txBody>
      </p:sp>
      <p:sp>
        <p:nvSpPr>
          <p:cNvPr id="33" name="Shape 33"/>
          <p:cNvSpPr txBox="1"/>
          <p:nvPr/>
        </p:nvSpPr>
        <p:spPr>
          <a:xfrm>
            <a:off x="6172200" y="1673352"/>
            <a:ext cx="1143000" cy="347472"/>
          </a:xfrm>
          <a:prstGeom prst="roundRect">
            <a:avLst/>
          </a:prstGeom>
          <a:noFill/>
          <a:ln>
            <a:noFill/>
          </a:ln>
        </p:spPr>
        <p:txBody>
          <a:bodyPr wrap="square" lIns="91440" tIns="45720" rIns="91440" bIns="45720"/>
          <a:lstStyle/>
          <a:p>
            <a:pPr algn="l">
              <a:lnSpc>
                <a:spcPct val="110000"/>
              </a:lnSpc>
            </a:pPr>
            <a:r>
              <a:rPr lang="zh-CN" sz="900">
                <a:solidFill>
                  <a:srgbClr val="6B7280"/>
                </a:solidFill>
                <a:latin typeface="Microsoft YaHei"/>
                <a:ea typeface="Microsoft YaHei"/>
              </a:rPr>
              <a:t>病例与随访数据分散，难形成队列</a:t>
            </a:r>
          </a:p>
        </p:txBody>
      </p:sp>
      <p:sp>
        <p:nvSpPr>
          <p:cNvPr id="40" name="Shape 40"/>
          <p:cNvSpPr txBox="1"/>
          <p:nvPr/>
        </p:nvSpPr>
        <p:spPr>
          <a:xfrm>
            <a:off x="7726679" y="1234440"/>
            <a:ext cx="2057400" cy="105156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5E7EB"/>
            </a:solidFill>
          </a:ln>
        </p:spPr>
        <p:txBody>
          <a:bodyPr/>
          <a:lstStyle/>
          <a:p/>
        </p:txBody>
      </p:sp>
      <p:sp>
        <p:nvSpPr>
          <p:cNvPr id="41" name="Shape 41"/>
          <p:cNvSpPr txBox="1"/>
          <p:nvPr/>
        </p:nvSpPr>
        <p:spPr>
          <a:xfrm>
            <a:off x="7891271" y="1362456"/>
            <a:ext cx="512064" cy="512064"/>
          </a:xfrm>
          <a:prstGeom prst="ellipse">
            <a:avLst/>
          </a:prstGeom>
          <a:solidFill>
            <a:srgbClr val="EF4444"/>
          </a:solidFill>
          <a:ln>
            <a:noFill/>
          </a:ln>
        </p:spPr>
        <p:txBody>
          <a:bodyPr wrap="square" lIns="91440" tIns="45720" rIns="91440" bIns="45720"/>
          <a:lstStyle/>
          <a:p>
            <a:pPr algn="ctr">
              <a:lnSpc>
                <a:spcPct val="110000"/>
              </a:lnSpc>
            </a:pPr>
            <a:r>
              <a:rPr lang="zh-CN" sz="1200" b="1">
                <a:solidFill>
                  <a:srgbClr val="FFFFFF"/>
                </a:solidFill>
                <a:latin typeface="Microsoft YaHei"/>
                <a:ea typeface="Microsoft YaHei"/>
              </a:rPr>
              <a:t>04</a:t>
            </a:r>
          </a:p>
        </p:txBody>
      </p:sp>
      <p:sp>
        <p:nvSpPr>
          <p:cNvPr id="42" name="Shape 42"/>
          <p:cNvSpPr txBox="1"/>
          <p:nvPr/>
        </p:nvSpPr>
        <p:spPr>
          <a:xfrm>
            <a:off x="8503919" y="1344168"/>
            <a:ext cx="1143000" cy="256032"/>
          </a:xfrm>
          <a:prstGeom prst="roundRect">
            <a:avLst/>
          </a:prstGeom>
          <a:noFill/>
          <a:ln>
            <a:noFill/>
          </a:ln>
        </p:spPr>
        <p:txBody>
          <a:bodyPr wrap="square" lIns="91440" tIns="45720" rIns="91440" bIns="45720"/>
          <a:lstStyle/>
          <a:p>
            <a:pPr algn="l">
              <a:lnSpc>
                <a:spcPct val="110000"/>
              </a:lnSpc>
            </a:pPr>
            <a:r>
              <a:rPr lang="zh-CN" sz="1300" b="1">
                <a:solidFill>
                  <a:srgbClr val="1F2937"/>
                </a:solidFill>
                <a:latin typeface="Microsoft YaHei"/>
                <a:ea typeface="Microsoft YaHei"/>
              </a:rPr>
              <a:t>产出压力</a:t>
            </a:r>
          </a:p>
        </p:txBody>
      </p:sp>
      <p:sp>
        <p:nvSpPr>
          <p:cNvPr id="43" name="Shape 43"/>
          <p:cNvSpPr txBox="1"/>
          <p:nvPr/>
        </p:nvSpPr>
        <p:spPr>
          <a:xfrm>
            <a:off x="8503919" y="1673352"/>
            <a:ext cx="1143000" cy="347472"/>
          </a:xfrm>
          <a:prstGeom prst="roundRect">
            <a:avLst/>
          </a:prstGeom>
          <a:noFill/>
          <a:ln>
            <a:noFill/>
          </a:ln>
        </p:spPr>
        <p:txBody>
          <a:bodyPr wrap="square" lIns="91440" tIns="45720" rIns="91440" bIns="45720"/>
          <a:lstStyle/>
          <a:p>
            <a:pPr algn="l">
              <a:lnSpc>
                <a:spcPct val="110000"/>
              </a:lnSpc>
            </a:pPr>
            <a:r>
              <a:rPr lang="zh-CN" sz="900">
                <a:solidFill>
                  <a:srgbClr val="6B7280"/>
                </a:solidFill>
                <a:latin typeface="Microsoft YaHei"/>
                <a:ea typeface="Microsoft YaHei"/>
              </a:rPr>
              <a:t>论文、课题、伦理、职称材料要求持续增长</a:t>
            </a:r>
          </a:p>
        </p:txBody>
      </p:sp>
      <p:sp>
        <p:nvSpPr>
          <p:cNvPr id="60" name="Shape 60"/>
          <p:cNvSpPr txBox="1"/>
          <p:nvPr/>
        </p:nvSpPr>
        <p:spPr>
          <a:xfrm>
            <a:off x="731520" y="3246120"/>
            <a:ext cx="1600200" cy="658368"/>
          </a:xfrm>
          <a:prstGeom prst="roundRect">
            <a:avLst/>
          </a:prstGeom>
          <a:solidFill>
            <a:srgbClr val="EAF2FF"/>
          </a:solidFill>
          <a:ln w="12700">
            <a:solidFill>
              <a:srgbClr val="BBD6FF"/>
            </a:solidFill>
          </a:ln>
        </p:spPr>
        <p:txBody>
          <a:bodyPr wrap="square" lIns="91440" tIns="45720" rIns="91440" bIns="45720"/>
          <a:lstStyle/>
          <a:p>
            <a:pPr algn="ctr">
              <a:lnSpc>
                <a:spcPct val="110000"/>
              </a:lnSpc>
            </a:pPr>
            <a:r>
              <a:rPr lang="zh-CN" sz="1200" b="1">
                <a:solidFill>
                  <a:srgbClr val="1F2937"/>
                </a:solidFill>
                <a:latin typeface="Microsoft YaHei"/>
                <a:ea typeface="Microsoft YaHei"/>
              </a:rPr>
              <a:t>临床问题</a:t>
            </a:r>
          </a:p>
        </p:txBody>
      </p:sp>
      <p:sp>
        <p:nvSpPr>
          <p:cNvPr id="61" name="Shape 61"/>
          <p:cNvSpPr txBox="1"/>
          <p:nvPr/>
        </p:nvSpPr>
        <p:spPr>
          <a:xfrm>
            <a:off x="2359152" y="3429000"/>
            <a:ext cx="411480" cy="292608"/>
          </a:xfrm>
          <a:prstGeom prst="rightArrow">
            <a:avLst/>
          </a:prstGeom>
          <a:solidFill>
            <a:srgbClr val="1677FF"/>
          </a:solidFill>
          <a:ln>
            <a:noFill/>
          </a:ln>
        </p:spPr>
        <p:txBody>
          <a:bodyPr/>
          <a:lstStyle/>
          <a:p/>
        </p:txBody>
      </p:sp>
      <p:sp>
        <p:nvSpPr>
          <p:cNvPr id="63" name="Shape 63"/>
          <p:cNvSpPr txBox="1"/>
          <p:nvPr/>
        </p:nvSpPr>
        <p:spPr>
          <a:xfrm>
            <a:off x="2724912" y="3246120"/>
            <a:ext cx="1600200" cy="658368"/>
          </a:xfrm>
          <a:prstGeom prst="roundRect">
            <a:avLst/>
          </a:prstGeom>
          <a:solidFill>
            <a:srgbClr val="EAF2FF"/>
          </a:solidFill>
          <a:ln w="12700">
            <a:solidFill>
              <a:srgbClr val="BBD6FF"/>
            </a:solidFill>
          </a:ln>
        </p:spPr>
        <p:txBody>
          <a:bodyPr wrap="square" lIns="91440" tIns="45720" rIns="91440" bIns="45720"/>
          <a:lstStyle/>
          <a:p>
            <a:pPr algn="ctr">
              <a:lnSpc>
                <a:spcPct val="110000"/>
              </a:lnSpc>
            </a:pPr>
            <a:r>
              <a:rPr lang="zh-CN" sz="1200" b="1">
                <a:solidFill>
                  <a:srgbClr val="1F2937"/>
                </a:solidFill>
                <a:latin typeface="Microsoft YaHei"/>
                <a:ea typeface="Microsoft YaHei"/>
              </a:rPr>
              <a:t>文献证据</a:t>
            </a:r>
          </a:p>
        </p:txBody>
      </p:sp>
      <p:sp>
        <p:nvSpPr>
          <p:cNvPr id="64" name="Shape 64"/>
          <p:cNvSpPr txBox="1"/>
          <p:nvPr/>
        </p:nvSpPr>
        <p:spPr>
          <a:xfrm>
            <a:off x="4352544" y="3429000"/>
            <a:ext cx="411480" cy="292608"/>
          </a:xfrm>
          <a:prstGeom prst="rightArrow">
            <a:avLst/>
          </a:prstGeom>
          <a:solidFill>
            <a:srgbClr val="1677FF"/>
          </a:solidFill>
          <a:ln>
            <a:noFill/>
          </a:ln>
        </p:spPr>
        <p:txBody>
          <a:bodyPr/>
          <a:lstStyle/>
          <a:p/>
        </p:txBody>
      </p:sp>
      <p:sp>
        <p:nvSpPr>
          <p:cNvPr id="66" name="Shape 66"/>
          <p:cNvSpPr txBox="1"/>
          <p:nvPr/>
        </p:nvSpPr>
        <p:spPr>
          <a:xfrm>
            <a:off x="4718304" y="3246120"/>
            <a:ext cx="1600200" cy="658368"/>
          </a:xfrm>
          <a:prstGeom prst="roundRect">
            <a:avLst/>
          </a:prstGeom>
          <a:solidFill>
            <a:srgbClr val="EAF2FF"/>
          </a:solidFill>
          <a:ln w="12700">
            <a:solidFill>
              <a:srgbClr val="BBD6FF"/>
            </a:solidFill>
          </a:ln>
        </p:spPr>
        <p:txBody>
          <a:bodyPr wrap="square" lIns="91440" tIns="45720" rIns="91440" bIns="45720"/>
          <a:lstStyle/>
          <a:p>
            <a:pPr algn="ctr">
              <a:lnSpc>
                <a:spcPct val="110000"/>
              </a:lnSpc>
            </a:pPr>
            <a:r>
              <a:rPr lang="zh-CN" sz="1200" b="1">
                <a:solidFill>
                  <a:srgbClr val="1F2937"/>
                </a:solidFill>
                <a:latin typeface="Microsoft YaHei"/>
                <a:ea typeface="Microsoft YaHei"/>
              </a:rPr>
              <a:t>研究假设</a:t>
            </a:r>
          </a:p>
        </p:txBody>
      </p:sp>
      <p:sp>
        <p:nvSpPr>
          <p:cNvPr id="67" name="Shape 67"/>
          <p:cNvSpPr txBox="1"/>
          <p:nvPr/>
        </p:nvSpPr>
        <p:spPr>
          <a:xfrm>
            <a:off x="6345936" y="3429000"/>
            <a:ext cx="411480" cy="292608"/>
          </a:xfrm>
          <a:prstGeom prst="rightArrow">
            <a:avLst/>
          </a:prstGeom>
          <a:solidFill>
            <a:srgbClr val="1677FF"/>
          </a:solidFill>
          <a:ln>
            <a:noFill/>
          </a:ln>
        </p:spPr>
        <p:txBody>
          <a:bodyPr/>
          <a:lstStyle/>
          <a:p/>
        </p:txBody>
      </p:sp>
      <p:sp>
        <p:nvSpPr>
          <p:cNvPr id="69" name="Shape 69"/>
          <p:cNvSpPr txBox="1"/>
          <p:nvPr/>
        </p:nvSpPr>
        <p:spPr>
          <a:xfrm>
            <a:off x="6711696" y="3246120"/>
            <a:ext cx="1600200" cy="658368"/>
          </a:xfrm>
          <a:prstGeom prst="roundRect">
            <a:avLst/>
          </a:prstGeom>
          <a:solidFill>
            <a:srgbClr val="EAF2FF"/>
          </a:solidFill>
          <a:ln w="12700">
            <a:solidFill>
              <a:srgbClr val="BBD6FF"/>
            </a:solidFill>
          </a:ln>
        </p:spPr>
        <p:txBody>
          <a:bodyPr wrap="square" lIns="91440" tIns="45720" rIns="91440" bIns="45720"/>
          <a:lstStyle/>
          <a:p>
            <a:pPr algn="ctr">
              <a:lnSpc>
                <a:spcPct val="110000"/>
              </a:lnSpc>
            </a:pPr>
            <a:r>
              <a:rPr lang="zh-CN" sz="1200" b="1">
                <a:solidFill>
                  <a:srgbClr val="1F2937"/>
                </a:solidFill>
                <a:latin typeface="Microsoft YaHei"/>
                <a:ea typeface="Microsoft YaHei"/>
              </a:rPr>
              <a:t>数据设计</a:t>
            </a:r>
          </a:p>
        </p:txBody>
      </p:sp>
      <p:sp>
        <p:nvSpPr>
          <p:cNvPr id="70" name="Shape 70"/>
          <p:cNvSpPr txBox="1"/>
          <p:nvPr/>
        </p:nvSpPr>
        <p:spPr>
          <a:xfrm>
            <a:off x="8339327" y="3429000"/>
            <a:ext cx="411480" cy="292608"/>
          </a:xfrm>
          <a:prstGeom prst="rightArrow">
            <a:avLst/>
          </a:prstGeom>
          <a:solidFill>
            <a:srgbClr val="1677FF"/>
          </a:solidFill>
          <a:ln>
            <a:noFill/>
          </a:ln>
        </p:spPr>
        <p:txBody>
          <a:bodyPr/>
          <a:lstStyle/>
          <a:p/>
        </p:txBody>
      </p:sp>
      <p:sp>
        <p:nvSpPr>
          <p:cNvPr id="72" name="Shape 72"/>
          <p:cNvSpPr txBox="1"/>
          <p:nvPr/>
        </p:nvSpPr>
        <p:spPr>
          <a:xfrm>
            <a:off x="8705088" y="3246120"/>
            <a:ext cx="1600200" cy="658368"/>
          </a:xfrm>
          <a:prstGeom prst="roundRect">
            <a:avLst/>
          </a:prstGeom>
          <a:solidFill>
            <a:srgbClr val="EAF2FF"/>
          </a:solidFill>
          <a:ln w="12700">
            <a:solidFill>
              <a:srgbClr val="BBD6FF"/>
            </a:solidFill>
          </a:ln>
        </p:spPr>
        <p:txBody>
          <a:bodyPr wrap="square" lIns="91440" tIns="45720" rIns="91440" bIns="45720"/>
          <a:lstStyle/>
          <a:p>
            <a:pPr algn="ctr">
              <a:lnSpc>
                <a:spcPct val="110000"/>
              </a:lnSpc>
            </a:pPr>
            <a:r>
              <a:rPr lang="zh-CN" sz="1200" b="1">
                <a:solidFill>
                  <a:srgbClr val="1F2937"/>
                </a:solidFill>
                <a:latin typeface="Microsoft YaHei"/>
                <a:ea typeface="Microsoft YaHei"/>
              </a:rPr>
              <a:t>论文产出</a:t>
            </a:r>
          </a:p>
        </p:txBody>
      </p:sp>
      <p:sp>
        <p:nvSpPr>
          <p:cNvPr id="90" name="Shape 90"/>
          <p:cNvSpPr txBox="1"/>
          <p:nvPr/>
        </p:nvSpPr>
        <p:spPr>
          <a:xfrm>
            <a:off x="960120" y="4983480"/>
            <a:ext cx="9875520" cy="502920"/>
          </a:xfrm>
          <a:prstGeom prst="roundRect">
            <a:avLst/>
          </a:prstGeom>
          <a:solidFill>
            <a:srgbClr val="111827"/>
          </a:solidFill>
          <a:ln>
            <a:noFill/>
          </a:ln>
        </p:spPr>
        <p:txBody>
          <a:bodyPr wrap="square" lIns="91440" tIns="45720" rIns="91440" bIns="45720"/>
          <a:lstStyle/>
          <a:p>
            <a:pPr algn="ctr">
              <a:lnSpc>
                <a:spcPct val="110000"/>
              </a:lnSpc>
            </a:pPr>
            <a:r>
              <a:rPr lang="zh-CN" sz="1600" b="1">
                <a:solidFill>
                  <a:srgbClr val="FFFFFF"/>
                </a:solidFill>
                <a:latin typeface="Microsoft YaHei"/>
                <a:ea typeface="Microsoft YaHei"/>
              </a:rPr>
              <a:t>MEKS 的核心价值：把医生碎片化科研工作，沉淀成可复用、可协作、可发表的知识资产。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7F9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00" name="Shape 900"/>
          <p:cNvSpPr txBox="1"/>
          <p:nvPr/>
        </p:nvSpPr>
        <p:spPr>
          <a:xfrm>
            <a:off x="411480" y="256032"/>
            <a:ext cx="164592" cy="411480"/>
          </a:xfrm>
          <a:prstGeom prst="rect">
            <a:avLst/>
          </a:prstGeom>
          <a:solidFill>
            <a:srgbClr val="1677FF"/>
          </a:solidFill>
          <a:ln>
            <a:noFill/>
          </a:ln>
        </p:spPr>
        <p:txBody>
          <a:bodyPr/>
          <a:lstStyle/>
          <a:p/>
        </p:txBody>
      </p:sp>
      <p:sp>
        <p:nvSpPr>
          <p:cNvPr id="901" name="Shape 901"/>
          <p:cNvSpPr txBox="1"/>
          <p:nvPr/>
        </p:nvSpPr>
        <p:spPr>
          <a:xfrm>
            <a:off x="658368" y="201168"/>
            <a:ext cx="8046720" cy="411480"/>
          </a:xfrm>
          <a:prstGeom prst="roundRect">
            <a:avLst/>
          </a:prstGeom>
          <a:noFill/>
          <a:ln>
            <a:noFill/>
          </a:ln>
        </p:spPr>
        <p:txBody>
          <a:bodyPr wrap="square" lIns="91440" tIns="45720" rIns="91440" bIns="45720"/>
          <a:lstStyle/>
          <a:p>
            <a:pPr algn="l">
              <a:lnSpc>
                <a:spcPct val="110000"/>
              </a:lnSpc>
            </a:pPr>
            <a:r>
              <a:rPr lang="zh-CN" sz="2500" b="1">
                <a:solidFill>
                  <a:srgbClr val="111827"/>
                </a:solidFill>
                <a:latin typeface="Microsoft YaHei"/>
                <a:ea typeface="Microsoft YaHei"/>
              </a:rPr>
              <a:t>产品定位</a:t>
            </a:r>
          </a:p>
        </p:txBody>
      </p:sp>
      <p:sp>
        <p:nvSpPr>
          <p:cNvPr id="902" name="Shape 902"/>
          <p:cNvSpPr txBox="1"/>
          <p:nvPr/>
        </p:nvSpPr>
        <p:spPr>
          <a:xfrm>
            <a:off x="658368" y="621792"/>
            <a:ext cx="9601200" cy="320040"/>
          </a:xfrm>
          <a:prstGeom prst="roundRect">
            <a:avLst/>
          </a:prstGeom>
          <a:noFill/>
          <a:ln>
            <a:noFill/>
          </a:ln>
        </p:spPr>
        <p:txBody>
          <a:bodyPr wrap="square" lIns="91440" tIns="45720" rIns="91440" bIns="45720"/>
          <a:lstStyle/>
          <a:p>
            <a:pPr algn="l">
              <a:lnSpc>
                <a:spcPct val="110000"/>
              </a:lnSpc>
            </a:pPr>
            <a:r>
              <a:rPr lang="zh-CN" sz="1100">
                <a:solidFill>
                  <a:srgbClr val="6B7280"/>
                </a:solidFill>
                <a:latin typeface="Microsoft YaHei"/>
                <a:ea typeface="Microsoft YaHei"/>
              </a:rPr>
              <a:t>面向三甲医院科室、青年医生、研究生和科研管理团队</a:t>
            </a:r>
          </a:p>
        </p:txBody>
      </p:sp>
      <p:sp>
        <p:nvSpPr>
          <p:cNvPr id="10" name="Shape 10"/>
          <p:cNvSpPr txBox="1"/>
          <p:nvPr/>
        </p:nvSpPr>
        <p:spPr>
          <a:xfrm>
            <a:off x="777240" y="1280160"/>
            <a:ext cx="2926080" cy="41148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1D5DB"/>
            </a:solidFill>
          </a:ln>
        </p:spPr>
        <p:txBody>
          <a:bodyPr wrap="square" lIns="91440" tIns="45720" rIns="91440" bIns="45720"/>
          <a:lstStyle/>
          <a:p>
            <a:pPr algn="l">
              <a:lnSpc>
                <a:spcPct val="110000"/>
              </a:lnSpc>
            </a:pPr>
            <a:r>
              <a:rPr lang="zh-CN" sz="1600" b="1">
                <a:solidFill>
                  <a:srgbClr val="1F2937"/>
                </a:solidFill>
                <a:latin typeface="Microsoft YaHei"/>
                <a:ea typeface="Microsoft YaHei"/>
              </a:rPr>
              <a:t>医生个人</a:t>
            </a:r>
          </a:p>
          <a:p>
            <a:pPr algn="l">
              <a:lnSpc>
                <a:spcPct val="110000"/>
              </a:lnSpc>
            </a:pPr>
            <a:r>
              <a:rPr lang="zh-CN" sz="1600" b="1">
                <a:solidFill>
                  <a:srgbClr val="1F2937"/>
                </a:solidFill>
                <a:latin typeface="Microsoft YaHei"/>
                <a:ea typeface="Microsoft YaHei"/>
              </a:rPr>
              <a:t/>
            </a:r>
          </a:p>
          <a:p>
            <a:pPr algn="l">
              <a:lnSpc>
                <a:spcPct val="110000"/>
              </a:lnSpc>
            </a:pPr>
            <a:r>
              <a:rPr lang="zh-CN" sz="1600" b="1">
                <a:solidFill>
                  <a:srgbClr val="1F2937"/>
                </a:solidFill>
                <a:latin typeface="Microsoft YaHei"/>
                <a:ea typeface="Microsoft YaHei"/>
              </a:rPr>
              <a:t>• 每日文献雷达</a:t>
            </a:r>
          </a:p>
          <a:p>
            <a:pPr algn="l">
              <a:lnSpc>
                <a:spcPct val="110000"/>
              </a:lnSpc>
            </a:pPr>
            <a:r>
              <a:rPr lang="zh-CN" sz="1600" b="1">
                <a:solidFill>
                  <a:srgbClr val="1F2937"/>
                </a:solidFill>
                <a:latin typeface="Microsoft YaHei"/>
                <a:ea typeface="Microsoft YaHei"/>
              </a:rPr>
              <a:t>• 论文精读卡片</a:t>
            </a:r>
          </a:p>
          <a:p>
            <a:pPr algn="l">
              <a:lnSpc>
                <a:spcPct val="110000"/>
              </a:lnSpc>
            </a:pPr>
            <a:r>
              <a:rPr lang="zh-CN" sz="1600" b="1">
                <a:solidFill>
                  <a:srgbClr val="1F2937"/>
                </a:solidFill>
                <a:latin typeface="Microsoft YaHei"/>
                <a:ea typeface="Microsoft YaHei"/>
              </a:rPr>
              <a:t>• AI 写作对话</a:t>
            </a:r>
          </a:p>
          <a:p>
            <a:pPr algn="l">
              <a:lnSpc>
                <a:spcPct val="110000"/>
              </a:lnSpc>
            </a:pPr>
            <a:r>
              <a:rPr lang="zh-CN" sz="1600" b="1">
                <a:solidFill>
                  <a:srgbClr val="1F2937"/>
                </a:solidFill>
                <a:latin typeface="Microsoft YaHei"/>
                <a:ea typeface="Microsoft YaHei"/>
              </a:rPr>
              <a:t>• 可编辑论文草稿</a:t>
            </a:r>
          </a:p>
          <a:p>
            <a:pPr algn="l">
              <a:lnSpc>
                <a:spcPct val="110000"/>
              </a:lnSpc>
            </a:pPr>
            <a:r>
              <a:rPr lang="zh-CN" sz="1600" b="1">
                <a:solidFill>
                  <a:srgbClr val="1F2937"/>
                </a:solidFill>
                <a:latin typeface="Microsoft YaHei"/>
                <a:ea typeface="Microsoft YaHei"/>
              </a:rPr>
              <a:t>• Word/PDF 导出</a:t>
            </a:r>
          </a:p>
        </p:txBody>
      </p:sp>
      <p:sp>
        <p:nvSpPr>
          <p:cNvPr id="20" name="Shape 20"/>
          <p:cNvSpPr txBox="1"/>
          <p:nvPr/>
        </p:nvSpPr>
        <p:spPr>
          <a:xfrm>
            <a:off x="3977639" y="1280160"/>
            <a:ext cx="2926080" cy="41148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1D5DB"/>
            </a:solidFill>
          </a:ln>
        </p:spPr>
        <p:txBody>
          <a:bodyPr wrap="square" lIns="91440" tIns="45720" rIns="91440" bIns="45720"/>
          <a:lstStyle/>
          <a:p>
            <a:pPr algn="l">
              <a:lnSpc>
                <a:spcPct val="110000"/>
              </a:lnSpc>
            </a:pPr>
            <a:r>
              <a:rPr lang="zh-CN" sz="1600" b="1">
                <a:solidFill>
                  <a:srgbClr val="1F2937"/>
                </a:solidFill>
                <a:latin typeface="Microsoft YaHei"/>
                <a:ea typeface="Microsoft YaHei"/>
              </a:rPr>
              <a:t>科室团队</a:t>
            </a:r>
          </a:p>
          <a:p>
            <a:pPr algn="l">
              <a:lnSpc>
                <a:spcPct val="110000"/>
              </a:lnSpc>
            </a:pPr>
            <a:r>
              <a:rPr lang="zh-CN" sz="1600" b="1">
                <a:solidFill>
                  <a:srgbClr val="1F2937"/>
                </a:solidFill>
                <a:latin typeface="Microsoft YaHei"/>
                <a:ea typeface="Microsoft YaHei"/>
              </a:rPr>
              <a:t/>
            </a:r>
          </a:p>
          <a:p>
            <a:pPr algn="l">
              <a:lnSpc>
                <a:spcPct val="110000"/>
              </a:lnSpc>
            </a:pPr>
            <a:r>
              <a:rPr lang="zh-CN" sz="1600" b="1">
                <a:solidFill>
                  <a:srgbClr val="1F2937"/>
                </a:solidFill>
                <a:latin typeface="Microsoft YaHei"/>
                <a:ea typeface="Microsoft YaHei"/>
              </a:rPr>
              <a:t>• 共享知识库</a:t>
            </a:r>
          </a:p>
          <a:p>
            <a:pPr algn="l">
              <a:lnSpc>
                <a:spcPct val="110000"/>
              </a:lnSpc>
            </a:pPr>
            <a:r>
              <a:rPr lang="zh-CN" sz="1600" b="1">
                <a:solidFill>
                  <a:srgbClr val="1F2937"/>
                </a:solidFill>
                <a:latin typeface="Microsoft YaHei"/>
                <a:ea typeface="Microsoft YaHei"/>
              </a:rPr>
              <a:t>• 关注方向沉淀</a:t>
            </a:r>
          </a:p>
          <a:p>
            <a:pPr algn="l">
              <a:lnSpc>
                <a:spcPct val="110000"/>
              </a:lnSpc>
            </a:pPr>
            <a:r>
              <a:rPr lang="zh-CN" sz="1600" b="1">
                <a:solidFill>
                  <a:srgbClr val="1F2937"/>
                </a:solidFill>
                <a:latin typeface="Microsoft YaHei"/>
                <a:ea typeface="Microsoft YaHei"/>
              </a:rPr>
              <a:t>• 研究选题共创</a:t>
            </a:r>
          </a:p>
          <a:p>
            <a:pPr algn="l">
              <a:lnSpc>
                <a:spcPct val="110000"/>
              </a:lnSpc>
            </a:pPr>
            <a:r>
              <a:rPr lang="zh-CN" sz="1600" b="1">
                <a:solidFill>
                  <a:srgbClr val="1F2937"/>
                </a:solidFill>
                <a:latin typeface="Microsoft YaHei"/>
                <a:ea typeface="Microsoft YaHei"/>
              </a:rPr>
              <a:t>• 文献与病例素材</a:t>
            </a:r>
          </a:p>
          <a:p>
            <a:pPr algn="l">
              <a:lnSpc>
                <a:spcPct val="110000"/>
              </a:lnSpc>
            </a:pPr>
            <a:r>
              <a:rPr lang="zh-CN" sz="1600" b="1">
                <a:solidFill>
                  <a:srgbClr val="1F2937"/>
                </a:solidFill>
                <a:latin typeface="Microsoft YaHei"/>
                <a:ea typeface="Microsoft YaHei"/>
              </a:rPr>
              <a:t>• 统一鉴真标准</a:t>
            </a:r>
          </a:p>
        </p:txBody>
      </p:sp>
      <p:sp>
        <p:nvSpPr>
          <p:cNvPr id="30" name="Shape 30"/>
          <p:cNvSpPr txBox="1"/>
          <p:nvPr/>
        </p:nvSpPr>
        <p:spPr>
          <a:xfrm>
            <a:off x="7178040" y="1280160"/>
            <a:ext cx="2926080" cy="41148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1D5DB"/>
            </a:solidFill>
          </a:ln>
        </p:spPr>
        <p:txBody>
          <a:bodyPr wrap="square" lIns="91440" tIns="45720" rIns="91440" bIns="45720"/>
          <a:lstStyle/>
          <a:p>
            <a:pPr algn="l">
              <a:lnSpc>
                <a:spcPct val="110000"/>
              </a:lnSpc>
            </a:pPr>
            <a:r>
              <a:rPr lang="zh-CN" sz="1600" b="1">
                <a:solidFill>
                  <a:srgbClr val="1F2937"/>
                </a:solidFill>
                <a:latin typeface="Microsoft YaHei"/>
                <a:ea typeface="Microsoft YaHei"/>
              </a:rPr>
              <a:t>医院管理</a:t>
            </a:r>
          </a:p>
          <a:p>
            <a:pPr algn="l">
              <a:lnSpc>
                <a:spcPct val="110000"/>
              </a:lnSpc>
            </a:pPr>
            <a:r>
              <a:rPr lang="zh-CN" sz="1600" b="1">
                <a:solidFill>
                  <a:srgbClr val="1F2937"/>
                </a:solidFill>
                <a:latin typeface="Microsoft YaHei"/>
                <a:ea typeface="Microsoft YaHei"/>
              </a:rPr>
              <a:t/>
            </a:r>
          </a:p>
          <a:p>
            <a:pPr algn="l">
              <a:lnSpc>
                <a:spcPct val="110000"/>
              </a:lnSpc>
            </a:pPr>
            <a:r>
              <a:rPr lang="zh-CN" sz="1600" b="1">
                <a:solidFill>
                  <a:srgbClr val="1F2937"/>
                </a:solidFill>
                <a:latin typeface="Microsoft YaHei"/>
                <a:ea typeface="Microsoft YaHei"/>
              </a:rPr>
              <a:t>• 科研能力提升</a:t>
            </a:r>
          </a:p>
          <a:p>
            <a:pPr algn="l">
              <a:lnSpc>
                <a:spcPct val="110000"/>
              </a:lnSpc>
            </a:pPr>
            <a:r>
              <a:rPr lang="zh-CN" sz="1600" b="1">
                <a:solidFill>
                  <a:srgbClr val="1F2937"/>
                </a:solidFill>
                <a:latin typeface="Microsoft YaHei"/>
                <a:ea typeface="Microsoft YaHei"/>
              </a:rPr>
              <a:t>• 本地化部署</a:t>
            </a:r>
          </a:p>
          <a:p>
            <a:pPr algn="l">
              <a:lnSpc>
                <a:spcPct val="110000"/>
              </a:lnSpc>
            </a:pPr>
            <a:r>
              <a:rPr lang="zh-CN" sz="1600" b="1">
                <a:solidFill>
                  <a:srgbClr val="1F2937"/>
                </a:solidFill>
                <a:latin typeface="Microsoft YaHei"/>
                <a:ea typeface="Microsoft YaHei"/>
              </a:rPr>
              <a:t>• 数据与权限审计</a:t>
            </a:r>
          </a:p>
          <a:p>
            <a:pPr algn="l">
              <a:lnSpc>
                <a:spcPct val="110000"/>
              </a:lnSpc>
            </a:pPr>
            <a:r>
              <a:rPr lang="zh-CN" sz="1600" b="1">
                <a:solidFill>
                  <a:srgbClr val="1F2937"/>
                </a:solidFill>
                <a:latin typeface="Microsoft YaHei"/>
                <a:ea typeface="Microsoft YaHei"/>
              </a:rPr>
              <a:t>• 医院水印导出</a:t>
            </a:r>
          </a:p>
          <a:p>
            <a:pPr algn="l">
              <a:lnSpc>
                <a:spcPct val="110000"/>
              </a:lnSpc>
            </a:pPr>
            <a:r>
              <a:rPr lang="zh-CN" sz="1600" b="1">
                <a:solidFill>
                  <a:srgbClr val="1F2937"/>
                </a:solidFill>
                <a:latin typeface="Microsoft YaHei"/>
                <a:ea typeface="Microsoft YaHei"/>
              </a:rPr>
              <a:t>• 可持续规模化应用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7F9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00" name="Shape 900"/>
          <p:cNvSpPr txBox="1"/>
          <p:nvPr/>
        </p:nvSpPr>
        <p:spPr>
          <a:xfrm>
            <a:off x="411480" y="256032"/>
            <a:ext cx="164592" cy="411480"/>
          </a:xfrm>
          <a:prstGeom prst="rect">
            <a:avLst/>
          </a:prstGeom>
          <a:solidFill>
            <a:srgbClr val="1677FF"/>
          </a:solidFill>
          <a:ln>
            <a:noFill/>
          </a:ln>
        </p:spPr>
        <p:txBody>
          <a:bodyPr/>
          <a:lstStyle/>
          <a:p/>
        </p:txBody>
      </p:sp>
      <p:sp>
        <p:nvSpPr>
          <p:cNvPr id="901" name="Shape 901"/>
          <p:cNvSpPr txBox="1"/>
          <p:nvPr/>
        </p:nvSpPr>
        <p:spPr>
          <a:xfrm>
            <a:off x="658368" y="201168"/>
            <a:ext cx="8046720" cy="411480"/>
          </a:xfrm>
          <a:prstGeom prst="roundRect">
            <a:avLst/>
          </a:prstGeom>
          <a:noFill/>
          <a:ln>
            <a:noFill/>
          </a:ln>
        </p:spPr>
        <p:txBody>
          <a:bodyPr wrap="square" lIns="91440" tIns="45720" rIns="91440" bIns="45720"/>
          <a:lstStyle/>
          <a:p>
            <a:pPr algn="l">
              <a:lnSpc>
                <a:spcPct val="110000"/>
              </a:lnSpc>
            </a:pPr>
            <a:r>
              <a:rPr lang="zh-CN" sz="2500" b="1">
                <a:solidFill>
                  <a:srgbClr val="111827"/>
                </a:solidFill>
                <a:latin typeface="Microsoft YaHei"/>
                <a:ea typeface="Microsoft YaHei"/>
              </a:rPr>
              <a:t>当前可演示能力地图</a:t>
            </a:r>
          </a:p>
        </p:txBody>
      </p:sp>
      <p:sp>
        <p:nvSpPr>
          <p:cNvPr id="902" name="Shape 902"/>
          <p:cNvSpPr txBox="1"/>
          <p:nvPr/>
        </p:nvSpPr>
        <p:spPr>
          <a:xfrm>
            <a:off x="658368" y="621792"/>
            <a:ext cx="9601200" cy="320040"/>
          </a:xfrm>
          <a:prstGeom prst="roundRect">
            <a:avLst/>
          </a:prstGeom>
          <a:noFill/>
          <a:ln>
            <a:noFill/>
          </a:ln>
        </p:spPr>
        <p:txBody>
          <a:bodyPr wrap="square" lIns="91440" tIns="45720" rIns="91440" bIns="45720"/>
          <a:lstStyle/>
          <a:p>
            <a:pPr algn="l">
              <a:lnSpc>
                <a:spcPct val="110000"/>
              </a:lnSpc>
            </a:pPr>
            <a:r>
              <a:rPr lang="zh-CN" sz="1100">
                <a:solidFill>
                  <a:srgbClr val="6B7280"/>
                </a:solidFill>
                <a:latin typeface="Microsoft YaHei"/>
                <a:ea typeface="Microsoft YaHei"/>
              </a:rPr>
              <a:t>从找论文、判断可信度，到形成科研产出</a:t>
            </a:r>
          </a:p>
        </p:txBody>
      </p:sp>
      <p:sp>
        <p:nvSpPr>
          <p:cNvPr id="10" name="Shape 10"/>
          <p:cNvSpPr txBox="1"/>
          <p:nvPr/>
        </p:nvSpPr>
        <p:spPr>
          <a:xfrm>
            <a:off x="731520" y="1005840"/>
            <a:ext cx="2148840" cy="1097280"/>
          </a:xfrm>
          <a:prstGeom prst="roundRect">
            <a:avLst/>
          </a:prstGeom>
          <a:solidFill>
            <a:srgbClr val="EAF2FF"/>
          </a:solidFill>
          <a:ln w="12700">
            <a:solidFill>
              <a:srgbClr val="BBD6FF"/>
            </a:solidFill>
          </a:ln>
        </p:spPr>
        <p:txBody>
          <a:bodyPr wrap="square" lIns="91440" tIns="45720" rIns="91440" bIns="45720"/>
          <a:lstStyle/>
          <a:p>
            <a:pPr algn="ctr">
              <a:lnSpc>
                <a:spcPct val="110000"/>
              </a:lnSpc>
            </a:pPr>
            <a:r>
              <a:rPr lang="zh-CN" sz="1400" b="1">
                <a:solidFill>
                  <a:srgbClr val="1F2937"/>
                </a:solidFill>
                <a:latin typeface="Microsoft YaHei"/>
                <a:ea typeface="Microsoft YaHei"/>
              </a:rPr>
              <a:t>前沿发现</a:t>
            </a:r>
          </a:p>
          <a:p>
            <a:pPr algn="ctr">
              <a:lnSpc>
                <a:spcPct val="110000"/>
              </a:lnSpc>
            </a:pPr>
            <a:r>
              <a:rPr lang="zh-CN" sz="1400" b="1">
                <a:solidFill>
                  <a:srgbClr val="1F2937"/>
                </a:solidFill>
                <a:latin typeface="Microsoft YaHei"/>
                <a:ea typeface="Microsoft YaHei"/>
              </a:rPr>
              <a:t>关注点 + 增量同步</a:t>
            </a:r>
          </a:p>
        </p:txBody>
      </p:sp>
      <p:sp>
        <p:nvSpPr>
          <p:cNvPr id="20" name="Shape 20"/>
          <p:cNvSpPr txBox="1"/>
          <p:nvPr/>
        </p:nvSpPr>
        <p:spPr>
          <a:xfrm>
            <a:off x="3108960" y="1005840"/>
            <a:ext cx="2148840" cy="1097280"/>
          </a:xfrm>
          <a:prstGeom prst="roundRect">
            <a:avLst/>
          </a:prstGeom>
          <a:solidFill>
            <a:srgbClr val="ECFDF5"/>
          </a:solidFill>
          <a:ln w="12700">
            <a:solidFill>
              <a:srgbClr val="A7F3D0"/>
            </a:solidFill>
          </a:ln>
        </p:spPr>
        <p:txBody>
          <a:bodyPr wrap="square" lIns="91440" tIns="45720" rIns="91440" bIns="45720"/>
          <a:lstStyle/>
          <a:p>
            <a:pPr algn="ctr">
              <a:lnSpc>
                <a:spcPct val="110000"/>
              </a:lnSpc>
            </a:pPr>
            <a:r>
              <a:rPr lang="zh-CN" sz="1400" b="1">
                <a:solidFill>
                  <a:srgbClr val="1F2937"/>
                </a:solidFill>
                <a:latin typeface="Microsoft YaHei"/>
                <a:ea typeface="Microsoft YaHei"/>
              </a:rPr>
              <a:t>文献知识库</a:t>
            </a:r>
          </a:p>
          <a:p>
            <a:pPr algn="ctr">
              <a:lnSpc>
                <a:spcPct val="110000"/>
              </a:lnSpc>
            </a:pPr>
            <a:r>
              <a:rPr lang="zh-CN" sz="1400" b="1">
                <a:solidFill>
                  <a:srgbClr val="1F2937"/>
                </a:solidFill>
                <a:latin typeface="Microsoft YaHei"/>
                <a:ea typeface="Microsoft YaHei"/>
              </a:rPr>
              <a:t>检索 + 问答 + 索引</a:t>
            </a:r>
          </a:p>
        </p:txBody>
      </p:sp>
      <p:sp>
        <p:nvSpPr>
          <p:cNvPr id="30" name="Shape 30"/>
          <p:cNvSpPr txBox="1"/>
          <p:nvPr/>
        </p:nvSpPr>
        <p:spPr>
          <a:xfrm>
            <a:off x="5486400" y="1005840"/>
            <a:ext cx="2148840" cy="1097280"/>
          </a:xfrm>
          <a:prstGeom prst="roundRect">
            <a:avLst/>
          </a:prstGeom>
          <a:solidFill>
            <a:srgbClr val="FFF7ED"/>
          </a:solidFill>
          <a:ln w="12700">
            <a:solidFill>
              <a:srgbClr val="FED7AA"/>
            </a:solidFill>
          </a:ln>
        </p:spPr>
        <p:txBody>
          <a:bodyPr wrap="square" lIns="91440" tIns="45720" rIns="91440" bIns="45720"/>
          <a:lstStyle/>
          <a:p>
            <a:pPr algn="ctr">
              <a:lnSpc>
                <a:spcPct val="110000"/>
              </a:lnSpc>
            </a:pPr>
            <a:r>
              <a:rPr lang="zh-CN" sz="1400" b="1">
                <a:solidFill>
                  <a:srgbClr val="1F2937"/>
                </a:solidFill>
                <a:latin typeface="Microsoft YaHei"/>
                <a:ea typeface="Microsoft YaHei"/>
              </a:rPr>
              <a:t>论文鉴真</a:t>
            </a:r>
          </a:p>
          <a:p>
            <a:pPr algn="ctr">
              <a:lnSpc>
                <a:spcPct val="110000"/>
              </a:lnSpc>
            </a:pPr>
            <a:r>
              <a:rPr lang="zh-CN" sz="1400" b="1">
                <a:solidFill>
                  <a:srgbClr val="1F2937"/>
                </a:solidFill>
                <a:latin typeface="Microsoft YaHei"/>
                <a:ea typeface="Microsoft YaHei"/>
              </a:rPr>
              <a:t>六维风险评估</a:t>
            </a:r>
          </a:p>
        </p:txBody>
      </p:sp>
      <p:sp>
        <p:nvSpPr>
          <p:cNvPr id="40" name="Shape 40"/>
          <p:cNvSpPr txBox="1"/>
          <p:nvPr/>
        </p:nvSpPr>
        <p:spPr>
          <a:xfrm>
            <a:off x="7863840" y="1005840"/>
            <a:ext cx="2148840" cy="1097280"/>
          </a:xfrm>
          <a:prstGeom prst="roundRect">
            <a:avLst/>
          </a:prstGeom>
          <a:solidFill>
            <a:srgbClr val="F5F3FF"/>
          </a:solidFill>
          <a:ln w="12700">
            <a:solidFill>
              <a:srgbClr val="DDD6FE"/>
            </a:solidFill>
          </a:ln>
        </p:spPr>
        <p:txBody>
          <a:bodyPr wrap="square" lIns="91440" tIns="45720" rIns="91440" bIns="45720"/>
          <a:lstStyle/>
          <a:p>
            <a:pPr algn="ctr">
              <a:lnSpc>
                <a:spcPct val="110000"/>
              </a:lnSpc>
            </a:pPr>
            <a:r>
              <a:rPr lang="zh-CN" sz="1400" b="1">
                <a:solidFill>
                  <a:srgbClr val="1F2937"/>
                </a:solidFill>
                <a:latin typeface="Microsoft YaHei"/>
                <a:ea typeface="Microsoft YaHei"/>
              </a:rPr>
              <a:t>文献精读</a:t>
            </a:r>
          </a:p>
          <a:p>
            <a:pPr algn="ctr">
              <a:lnSpc>
                <a:spcPct val="110000"/>
              </a:lnSpc>
            </a:pPr>
            <a:r>
              <a:rPr lang="zh-CN" sz="1400" b="1">
                <a:solidFill>
                  <a:srgbClr val="1F2937"/>
                </a:solidFill>
                <a:latin typeface="Microsoft YaHei"/>
                <a:ea typeface="Microsoft YaHei"/>
              </a:rPr>
              <a:t>异步精读卡片</a:t>
            </a:r>
          </a:p>
        </p:txBody>
      </p:sp>
      <p:sp>
        <p:nvSpPr>
          <p:cNvPr id="50" name="Shape 50"/>
          <p:cNvSpPr txBox="1"/>
          <p:nvPr/>
        </p:nvSpPr>
        <p:spPr>
          <a:xfrm>
            <a:off x="731520" y="2788920"/>
            <a:ext cx="2148840" cy="109728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1D5DB"/>
            </a:solidFill>
          </a:ln>
        </p:spPr>
        <p:txBody>
          <a:bodyPr wrap="square" lIns="91440" tIns="45720" rIns="91440" bIns="45720"/>
          <a:lstStyle/>
          <a:p>
            <a:pPr algn="ctr">
              <a:lnSpc>
                <a:spcPct val="110000"/>
              </a:lnSpc>
            </a:pPr>
            <a:r>
              <a:rPr lang="zh-CN" sz="1400" b="1">
                <a:solidFill>
                  <a:srgbClr val="1F2937"/>
                </a:solidFill>
                <a:latin typeface="Microsoft YaHei"/>
                <a:ea typeface="Microsoft YaHei"/>
              </a:rPr>
              <a:t>研究设计</a:t>
            </a:r>
          </a:p>
          <a:p>
            <a:pPr algn="ctr">
              <a:lnSpc>
                <a:spcPct val="110000"/>
              </a:lnSpc>
            </a:pPr>
            <a:r>
              <a:rPr lang="zh-CN" sz="1400" b="1">
                <a:solidFill>
                  <a:srgbClr val="1F2937"/>
                </a:solidFill>
                <a:latin typeface="Microsoft YaHei"/>
                <a:ea typeface="Microsoft YaHei"/>
              </a:rPr>
              <a:t>PICO + 变量 + 终点</a:t>
            </a:r>
          </a:p>
        </p:txBody>
      </p:sp>
      <p:sp>
        <p:nvSpPr>
          <p:cNvPr id="60" name="Shape 60"/>
          <p:cNvSpPr txBox="1"/>
          <p:nvPr/>
        </p:nvSpPr>
        <p:spPr>
          <a:xfrm>
            <a:off x="3108960" y="2788920"/>
            <a:ext cx="2148840" cy="109728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1D5DB"/>
            </a:solidFill>
          </a:ln>
        </p:spPr>
        <p:txBody>
          <a:bodyPr wrap="square" lIns="91440" tIns="45720" rIns="91440" bIns="45720"/>
          <a:lstStyle/>
          <a:p>
            <a:pPr algn="ctr">
              <a:lnSpc>
                <a:spcPct val="110000"/>
              </a:lnSpc>
            </a:pPr>
            <a:r>
              <a:rPr lang="zh-CN" sz="1400" b="1">
                <a:solidFill>
                  <a:srgbClr val="1F2937"/>
                </a:solidFill>
                <a:latin typeface="Microsoft YaHei"/>
                <a:ea typeface="Microsoft YaHei"/>
              </a:rPr>
              <a:t>论文写作</a:t>
            </a:r>
          </a:p>
          <a:p>
            <a:pPr algn="ctr">
              <a:lnSpc>
                <a:spcPct val="110000"/>
              </a:lnSpc>
            </a:pPr>
            <a:r>
              <a:rPr lang="zh-CN" sz="1400" b="1">
                <a:solidFill>
                  <a:srgbClr val="1F2937"/>
                </a:solidFill>
                <a:latin typeface="Microsoft YaHei"/>
                <a:ea typeface="Microsoft YaHei"/>
              </a:rPr>
              <a:t>AI 对话 + 草稿编辑</a:t>
            </a:r>
          </a:p>
        </p:txBody>
      </p:sp>
      <p:sp>
        <p:nvSpPr>
          <p:cNvPr id="70" name="Shape 70"/>
          <p:cNvSpPr txBox="1"/>
          <p:nvPr/>
        </p:nvSpPr>
        <p:spPr>
          <a:xfrm>
            <a:off x="5486400" y="2788920"/>
            <a:ext cx="2148840" cy="109728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1D5DB"/>
            </a:solidFill>
          </a:ln>
        </p:spPr>
        <p:txBody>
          <a:bodyPr wrap="square" lIns="91440" tIns="45720" rIns="91440" bIns="45720"/>
          <a:lstStyle/>
          <a:p>
            <a:pPr algn="ctr">
              <a:lnSpc>
                <a:spcPct val="110000"/>
              </a:lnSpc>
            </a:pPr>
            <a:r>
              <a:rPr lang="zh-CN" sz="1400" b="1">
                <a:solidFill>
                  <a:srgbClr val="1F2937"/>
                </a:solidFill>
                <a:latin typeface="Microsoft YaHei"/>
                <a:ea typeface="Microsoft YaHei"/>
              </a:rPr>
              <a:t>病例数据集</a:t>
            </a:r>
          </a:p>
          <a:p>
            <a:pPr algn="ctr">
              <a:lnSpc>
                <a:spcPct val="110000"/>
              </a:lnSpc>
            </a:pPr>
            <a:r>
              <a:rPr lang="zh-CN" sz="1400" b="1">
                <a:solidFill>
                  <a:srgbClr val="1F2937"/>
                </a:solidFill>
                <a:latin typeface="Microsoft YaHei"/>
                <a:ea typeface="Microsoft YaHei"/>
              </a:rPr>
              <a:t>CSV/XLSX 统计分析</a:t>
            </a:r>
          </a:p>
        </p:txBody>
      </p:sp>
      <p:sp>
        <p:nvSpPr>
          <p:cNvPr id="80" name="Shape 80"/>
          <p:cNvSpPr txBox="1"/>
          <p:nvPr/>
        </p:nvSpPr>
        <p:spPr>
          <a:xfrm>
            <a:off x="7863840" y="2788920"/>
            <a:ext cx="2148840" cy="109728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1D5DB"/>
            </a:solidFill>
          </a:ln>
        </p:spPr>
        <p:txBody>
          <a:bodyPr wrap="square" lIns="91440" tIns="45720" rIns="91440" bIns="45720"/>
          <a:lstStyle/>
          <a:p>
            <a:pPr algn="ctr">
              <a:lnSpc>
                <a:spcPct val="110000"/>
              </a:lnSpc>
            </a:pPr>
            <a:r>
              <a:rPr lang="zh-CN" sz="1400" b="1">
                <a:solidFill>
                  <a:srgbClr val="1F2937"/>
                </a:solidFill>
                <a:latin typeface="Microsoft YaHei"/>
                <a:ea typeface="Microsoft YaHei"/>
              </a:rPr>
              <a:t>课题材料</a:t>
            </a:r>
          </a:p>
          <a:p>
            <a:pPr algn="ctr">
              <a:lnSpc>
                <a:spcPct val="110000"/>
              </a:lnSpc>
            </a:pPr>
            <a:r>
              <a:rPr lang="zh-CN" sz="1400" b="1">
                <a:solidFill>
                  <a:srgbClr val="1F2937"/>
                </a:solidFill>
                <a:latin typeface="Microsoft YaHei"/>
                <a:ea typeface="Microsoft YaHei"/>
              </a:rPr>
              <a:t>标书/伦理草稿</a:t>
            </a:r>
          </a:p>
        </p:txBody>
      </p:sp>
      <p:sp>
        <p:nvSpPr>
          <p:cNvPr id="90" name="Shape 90"/>
          <p:cNvSpPr txBox="1"/>
          <p:nvPr/>
        </p:nvSpPr>
        <p:spPr>
          <a:xfrm>
            <a:off x="1097280" y="4663440"/>
            <a:ext cx="8961120" cy="502920"/>
          </a:xfrm>
          <a:prstGeom prst="roundRect">
            <a:avLst/>
          </a:prstGeom>
          <a:solidFill>
            <a:srgbClr val="111827"/>
          </a:solidFill>
          <a:ln>
            <a:noFill/>
          </a:ln>
        </p:spPr>
        <p:txBody>
          <a:bodyPr wrap="square" lIns="91440" tIns="45720" rIns="91440" bIns="45720"/>
          <a:lstStyle/>
          <a:p>
            <a:pPr algn="ctr">
              <a:lnSpc>
                <a:spcPct val="110000"/>
              </a:lnSpc>
            </a:pPr>
            <a:r>
              <a:rPr lang="zh-CN" sz="1500" b="1">
                <a:solidFill>
                  <a:srgbClr val="FFFFFF"/>
                </a:solidFill>
                <a:latin typeface="Microsoft YaHei"/>
                <a:ea typeface="Microsoft YaHei"/>
              </a:rPr>
              <a:t>AI 优势不在替医生下结论，而在主动筛选证据、解释风险、形成可编辑科研素材。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7F9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00" name="Shape 900"/>
          <p:cNvSpPr txBox="1"/>
          <p:nvPr/>
        </p:nvSpPr>
        <p:spPr>
          <a:xfrm>
            <a:off x="411480" y="256032"/>
            <a:ext cx="164592" cy="411480"/>
          </a:xfrm>
          <a:prstGeom prst="rect">
            <a:avLst/>
          </a:prstGeom>
          <a:solidFill>
            <a:srgbClr val="1677FF"/>
          </a:solidFill>
          <a:ln>
            <a:noFill/>
          </a:ln>
        </p:spPr>
        <p:txBody>
          <a:bodyPr/>
          <a:lstStyle/>
          <a:p/>
        </p:txBody>
      </p:sp>
      <p:sp>
        <p:nvSpPr>
          <p:cNvPr id="901" name="Shape 901"/>
          <p:cNvSpPr txBox="1"/>
          <p:nvPr/>
        </p:nvSpPr>
        <p:spPr>
          <a:xfrm>
            <a:off x="658368" y="201168"/>
            <a:ext cx="8046720" cy="411480"/>
          </a:xfrm>
          <a:prstGeom prst="roundRect">
            <a:avLst/>
          </a:prstGeom>
          <a:noFill/>
          <a:ln>
            <a:noFill/>
          </a:ln>
        </p:spPr>
        <p:txBody>
          <a:bodyPr wrap="square" lIns="91440" tIns="45720" rIns="91440" bIns="45720"/>
          <a:lstStyle/>
          <a:p>
            <a:pPr algn="l">
              <a:lnSpc>
                <a:spcPct val="110000"/>
              </a:lnSpc>
            </a:pPr>
            <a:r>
              <a:rPr lang="zh-CN" sz="2500" b="1">
                <a:solidFill>
                  <a:srgbClr val="111827"/>
                </a:solidFill>
                <a:latin typeface="Microsoft YaHei"/>
                <a:ea typeface="Microsoft YaHei"/>
              </a:rPr>
              <a:t>核心能力一：前沿发现</a:t>
            </a:r>
          </a:p>
        </p:txBody>
      </p:sp>
      <p:sp>
        <p:nvSpPr>
          <p:cNvPr id="902" name="Shape 902"/>
          <p:cNvSpPr txBox="1"/>
          <p:nvPr/>
        </p:nvSpPr>
        <p:spPr>
          <a:xfrm>
            <a:off x="658368" y="621792"/>
            <a:ext cx="9601200" cy="320040"/>
          </a:xfrm>
          <a:prstGeom prst="roundRect">
            <a:avLst/>
          </a:prstGeom>
          <a:noFill/>
          <a:ln>
            <a:noFill/>
          </a:ln>
        </p:spPr>
        <p:txBody>
          <a:bodyPr wrap="square" lIns="91440" tIns="45720" rIns="91440" bIns="45720"/>
          <a:lstStyle/>
          <a:p>
            <a:pPr algn="l">
              <a:lnSpc>
                <a:spcPct val="110000"/>
              </a:lnSpc>
            </a:pPr>
            <a:r>
              <a:rPr lang="zh-CN" sz="1100">
                <a:solidFill>
                  <a:srgbClr val="6B7280"/>
                </a:solidFill>
                <a:latin typeface="Microsoft YaHei"/>
                <a:ea typeface="Microsoft YaHei"/>
              </a:rPr>
              <a:t>AI 关注点驱动，自动发现、同步和预筛新论文</a:t>
            </a:r>
          </a:p>
        </p:txBody>
      </p:sp>
      <p:sp>
        <p:nvSpPr>
          <p:cNvPr id="10" name="Shape 10"/>
          <p:cNvSpPr txBox="1"/>
          <p:nvPr/>
        </p:nvSpPr>
        <p:spPr>
          <a:xfrm>
            <a:off x="731520" y="1143000"/>
            <a:ext cx="2331720" cy="3566160"/>
          </a:xfrm>
          <a:prstGeom prst="roundRect">
            <a:avLst/>
          </a:prstGeom>
          <a:solidFill>
            <a:srgbClr val="EAF2FF"/>
          </a:solidFill>
          <a:ln w="12700">
            <a:solidFill>
              <a:srgbClr val="BBD6FF"/>
            </a:solidFill>
          </a:ln>
        </p:spPr>
        <p:txBody>
          <a:bodyPr wrap="square" lIns="91440" tIns="45720" rIns="91440" bIns="45720"/>
          <a:lstStyle/>
          <a:p>
            <a:pPr algn="l">
              <a:lnSpc>
                <a:spcPct val="110000"/>
              </a:lnSpc>
            </a:pPr>
            <a:r>
              <a:rPr lang="zh-CN" sz="1500">
                <a:solidFill>
                  <a:srgbClr val="1F2937"/>
                </a:solidFill>
                <a:latin typeface="Microsoft YaHei"/>
                <a:ea typeface="Microsoft YaHei"/>
              </a:rPr>
              <a:t>关注点</a:t>
            </a:r>
          </a:p>
          <a:p>
            <a:pPr algn="l">
              <a:lnSpc>
                <a:spcPct val="110000"/>
              </a:lnSpc>
            </a:pPr>
            <a:r>
              <a:rPr lang="zh-CN" sz="1500">
                <a:solidFill>
                  <a:srgbClr val="1F2937"/>
                </a:solidFill>
                <a:latin typeface="Microsoft YaHei"/>
                <a:ea typeface="Microsoft YaHei"/>
              </a:rPr>
              <a:t/>
            </a:r>
          </a:p>
          <a:p>
            <a:pPr algn="l">
              <a:lnSpc>
                <a:spcPct val="110000"/>
              </a:lnSpc>
            </a:pPr>
            <a:r>
              <a:rPr lang="zh-CN" sz="1500">
                <a:solidFill>
                  <a:srgbClr val="1F2937"/>
                </a:solidFill>
                <a:latin typeface="Microsoft YaHei"/>
                <a:ea typeface="Microsoft YaHei"/>
              </a:rPr>
              <a:t>医生自定义疾病、技术、药物、标志物、研究人群等方向</a:t>
            </a:r>
          </a:p>
        </p:txBody>
      </p:sp>
      <p:sp>
        <p:nvSpPr>
          <p:cNvPr id="20" name="Shape 20"/>
          <p:cNvSpPr txBox="1"/>
          <p:nvPr/>
        </p:nvSpPr>
        <p:spPr>
          <a:xfrm>
            <a:off x="3246120" y="1143000"/>
            <a:ext cx="2331720" cy="3566160"/>
          </a:xfrm>
          <a:prstGeom prst="roundRect">
            <a:avLst/>
          </a:prstGeom>
          <a:solidFill>
            <a:srgbClr val="ECFDF5"/>
          </a:solidFill>
          <a:ln w="12700">
            <a:solidFill>
              <a:srgbClr val="A7F3D0"/>
            </a:solidFill>
          </a:ln>
        </p:spPr>
        <p:txBody>
          <a:bodyPr wrap="square" lIns="91440" tIns="45720" rIns="91440" bIns="45720"/>
          <a:lstStyle/>
          <a:p>
            <a:pPr algn="l">
              <a:lnSpc>
                <a:spcPct val="110000"/>
              </a:lnSpc>
            </a:pPr>
            <a:r>
              <a:rPr lang="zh-CN" sz="1500">
                <a:solidFill>
                  <a:srgbClr val="1F2937"/>
                </a:solidFill>
                <a:latin typeface="Microsoft YaHei"/>
                <a:ea typeface="Microsoft YaHei"/>
              </a:rPr>
              <a:t>自动同步</a:t>
            </a:r>
          </a:p>
          <a:p>
            <a:pPr algn="l">
              <a:lnSpc>
                <a:spcPct val="110000"/>
              </a:lnSpc>
            </a:pPr>
            <a:r>
              <a:rPr lang="zh-CN" sz="1500">
                <a:solidFill>
                  <a:srgbClr val="1F2937"/>
                </a:solidFill>
                <a:latin typeface="Microsoft YaHei"/>
                <a:ea typeface="Microsoft YaHei"/>
              </a:rPr>
              <a:t/>
            </a:r>
          </a:p>
          <a:p>
            <a:pPr algn="l">
              <a:lnSpc>
                <a:spcPct val="110000"/>
              </a:lnSpc>
            </a:pPr>
            <a:r>
              <a:rPr lang="zh-CN" sz="1500">
                <a:solidFill>
                  <a:srgbClr val="1F2937"/>
                </a:solidFill>
                <a:latin typeface="Microsoft YaHei"/>
                <a:ea typeface="Microsoft YaHei"/>
              </a:rPr>
              <a:t>按天/周定时抓取论文，增量下载，跳过重复 DOI/PMCID</a:t>
            </a:r>
          </a:p>
        </p:txBody>
      </p:sp>
      <p:sp>
        <p:nvSpPr>
          <p:cNvPr id="30" name="Shape 30"/>
          <p:cNvSpPr txBox="1"/>
          <p:nvPr/>
        </p:nvSpPr>
        <p:spPr>
          <a:xfrm>
            <a:off x="5760720" y="1143000"/>
            <a:ext cx="2331720" cy="3566160"/>
          </a:xfrm>
          <a:prstGeom prst="roundRect">
            <a:avLst/>
          </a:prstGeom>
          <a:solidFill>
            <a:srgbClr val="FFF7ED"/>
          </a:solidFill>
          <a:ln w="12700">
            <a:solidFill>
              <a:srgbClr val="FED7AA"/>
            </a:solidFill>
          </a:ln>
        </p:spPr>
        <p:txBody>
          <a:bodyPr wrap="square" lIns="91440" tIns="45720" rIns="91440" bIns="45720"/>
          <a:lstStyle/>
          <a:p>
            <a:pPr algn="l">
              <a:lnSpc>
                <a:spcPct val="110000"/>
              </a:lnSpc>
            </a:pPr>
            <a:r>
              <a:rPr lang="zh-CN" sz="1500">
                <a:solidFill>
                  <a:srgbClr val="1F2937"/>
                </a:solidFill>
                <a:latin typeface="Microsoft YaHei"/>
                <a:ea typeface="Microsoft YaHei"/>
              </a:rPr>
              <a:t>前沿指数</a:t>
            </a:r>
          </a:p>
          <a:p>
            <a:pPr algn="l">
              <a:lnSpc>
                <a:spcPct val="110000"/>
              </a:lnSpc>
            </a:pPr>
            <a:r>
              <a:rPr lang="zh-CN" sz="1500">
                <a:solidFill>
                  <a:srgbClr val="1F2937"/>
                </a:solidFill>
                <a:latin typeface="Microsoft YaHei"/>
                <a:ea typeface="Microsoft YaHei"/>
              </a:rPr>
              <a:t/>
            </a:r>
          </a:p>
          <a:p>
            <a:pPr algn="l">
              <a:lnSpc>
                <a:spcPct val="110000"/>
              </a:lnSpc>
            </a:pPr>
            <a:r>
              <a:rPr lang="zh-CN" sz="1500">
                <a:solidFill>
                  <a:srgbClr val="1F2937"/>
                </a:solidFill>
                <a:latin typeface="Microsoft YaHei"/>
                <a:ea typeface="Microsoft YaHei"/>
              </a:rPr>
              <a:t>明确标注推荐优先级；真实性风险单独展示，低风险优先</a:t>
            </a:r>
          </a:p>
        </p:txBody>
      </p:sp>
      <p:sp>
        <p:nvSpPr>
          <p:cNvPr id="40" name="Shape 40"/>
          <p:cNvSpPr txBox="1"/>
          <p:nvPr/>
        </p:nvSpPr>
        <p:spPr>
          <a:xfrm>
            <a:off x="8275320" y="1143000"/>
            <a:ext cx="2331720" cy="3566160"/>
          </a:xfrm>
          <a:prstGeom prst="roundRect">
            <a:avLst/>
          </a:prstGeom>
          <a:solidFill>
            <a:srgbClr val="F5F3FF"/>
          </a:solidFill>
          <a:ln w="12700">
            <a:solidFill>
              <a:srgbClr val="DDD6FE"/>
            </a:solidFill>
          </a:ln>
        </p:spPr>
        <p:txBody>
          <a:bodyPr wrap="square" lIns="91440" tIns="45720" rIns="91440" bIns="45720"/>
          <a:lstStyle/>
          <a:p>
            <a:pPr algn="l">
              <a:lnSpc>
                <a:spcPct val="110000"/>
              </a:lnSpc>
            </a:pPr>
            <a:r>
              <a:rPr lang="zh-CN" sz="1500">
                <a:solidFill>
                  <a:srgbClr val="1F2937"/>
                </a:solidFill>
                <a:latin typeface="Microsoft YaHei"/>
                <a:ea typeface="Microsoft YaHei"/>
              </a:rPr>
              <a:t>可行动列表</a:t>
            </a:r>
          </a:p>
          <a:p>
            <a:pPr algn="l">
              <a:lnSpc>
                <a:spcPct val="110000"/>
              </a:lnSpc>
            </a:pPr>
            <a:r>
              <a:rPr lang="zh-CN" sz="1500">
                <a:solidFill>
                  <a:srgbClr val="1F2937"/>
                </a:solidFill>
                <a:latin typeface="Microsoft YaHei"/>
                <a:ea typeface="Microsoft YaHei"/>
              </a:rPr>
              <a:t/>
            </a:r>
          </a:p>
          <a:p>
            <a:pPr algn="l">
              <a:lnSpc>
                <a:spcPct val="110000"/>
              </a:lnSpc>
            </a:pPr>
            <a:r>
              <a:rPr lang="zh-CN" sz="1500">
                <a:solidFill>
                  <a:srgbClr val="1F2937"/>
                </a:solidFill>
                <a:latin typeface="Microsoft YaHei"/>
                <a:ea typeface="Microsoft YaHei"/>
              </a:rPr>
              <a:t>分页展示、按时间/风险/相关性排序，点击直接查看论文或鉴真结果</a:t>
            </a:r>
          </a:p>
        </p:txBody>
      </p:sp>
      <p:sp>
        <p:nvSpPr>
          <p:cNvPr id="50" name="Shape 50"/>
          <p:cNvSpPr txBox="1"/>
          <p:nvPr/>
        </p:nvSpPr>
        <p:spPr>
          <a:xfrm>
            <a:off x="1097280" y="5074920"/>
            <a:ext cx="8961120" cy="411480"/>
          </a:xfrm>
          <a:prstGeom prst="roundRect">
            <a:avLst/>
          </a:prstGeom>
          <a:solidFill>
            <a:srgbClr val="111827"/>
          </a:solidFill>
          <a:ln>
            <a:noFill/>
          </a:ln>
        </p:spPr>
        <p:txBody>
          <a:bodyPr wrap="square" lIns="91440" tIns="45720" rIns="91440" bIns="45720"/>
          <a:lstStyle/>
          <a:p>
            <a:pPr algn="ctr">
              <a:lnSpc>
                <a:spcPct val="110000"/>
              </a:lnSpc>
            </a:pPr>
            <a:r>
              <a:rPr lang="zh-CN" sz="1400" b="1">
                <a:solidFill>
                  <a:srgbClr val="FFFFFF"/>
                </a:solidFill>
                <a:latin typeface="Microsoft YaHei"/>
                <a:ea typeface="Microsoft YaHei"/>
              </a:rPr>
              <a:t>示例：心血管代谢与炎症 → 每天 8 点同步 50 篇 → 低风险高价值论文优先精读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7F9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00" name="Shape 900"/>
          <p:cNvSpPr txBox="1"/>
          <p:nvPr/>
        </p:nvSpPr>
        <p:spPr>
          <a:xfrm>
            <a:off x="411480" y="256032"/>
            <a:ext cx="164592" cy="411480"/>
          </a:xfrm>
          <a:prstGeom prst="rect">
            <a:avLst/>
          </a:prstGeom>
          <a:solidFill>
            <a:srgbClr val="1677FF"/>
          </a:solidFill>
          <a:ln>
            <a:noFill/>
          </a:ln>
        </p:spPr>
        <p:txBody>
          <a:bodyPr/>
          <a:lstStyle/>
          <a:p/>
        </p:txBody>
      </p:sp>
      <p:sp>
        <p:nvSpPr>
          <p:cNvPr id="901" name="Shape 901"/>
          <p:cNvSpPr txBox="1"/>
          <p:nvPr/>
        </p:nvSpPr>
        <p:spPr>
          <a:xfrm>
            <a:off x="658368" y="201168"/>
            <a:ext cx="8046720" cy="411480"/>
          </a:xfrm>
          <a:prstGeom prst="roundRect">
            <a:avLst/>
          </a:prstGeom>
          <a:noFill/>
          <a:ln>
            <a:noFill/>
          </a:ln>
        </p:spPr>
        <p:txBody>
          <a:bodyPr wrap="square" lIns="91440" tIns="45720" rIns="91440" bIns="45720"/>
          <a:lstStyle/>
          <a:p>
            <a:pPr algn="l">
              <a:lnSpc>
                <a:spcPct val="110000"/>
              </a:lnSpc>
            </a:pPr>
            <a:r>
              <a:rPr lang="zh-CN" sz="2500" b="1">
                <a:solidFill>
                  <a:srgbClr val="111827"/>
                </a:solidFill>
                <a:latin typeface="Microsoft YaHei"/>
                <a:ea typeface="Microsoft YaHei"/>
              </a:rPr>
              <a:t>AI 推荐逻辑：先可信，再有价值</a:t>
            </a:r>
          </a:p>
        </p:txBody>
      </p:sp>
      <p:sp>
        <p:nvSpPr>
          <p:cNvPr id="902" name="Shape 902"/>
          <p:cNvSpPr txBox="1"/>
          <p:nvPr/>
        </p:nvSpPr>
        <p:spPr>
          <a:xfrm>
            <a:off x="658368" y="621792"/>
            <a:ext cx="9601200" cy="320040"/>
          </a:xfrm>
          <a:prstGeom prst="roundRect">
            <a:avLst/>
          </a:prstGeom>
          <a:noFill/>
          <a:ln>
            <a:noFill/>
          </a:ln>
        </p:spPr>
        <p:txBody>
          <a:bodyPr wrap="square" lIns="91440" tIns="45720" rIns="91440" bIns="45720"/>
          <a:lstStyle/>
          <a:p>
            <a:pPr algn="l">
              <a:lnSpc>
                <a:spcPct val="110000"/>
              </a:lnSpc>
            </a:pPr>
            <a:r>
              <a:rPr lang="zh-CN" sz="1100">
                <a:solidFill>
                  <a:srgbClr val="6B7280"/>
                </a:solidFill>
                <a:latin typeface="Microsoft YaHei"/>
                <a:ea typeface="Microsoft YaHei"/>
              </a:rPr>
              <a:t>让医生优先看到低风险、高相关、真正值得读的论文</a:t>
            </a:r>
          </a:p>
        </p:txBody>
      </p:sp>
      <p:sp>
        <p:nvSpPr>
          <p:cNvPr id="10" name="Shape 10"/>
          <p:cNvSpPr txBox="1"/>
          <p:nvPr/>
        </p:nvSpPr>
        <p:spPr>
          <a:xfrm>
            <a:off x="777240" y="1097280"/>
            <a:ext cx="2331720" cy="4114800"/>
          </a:xfrm>
          <a:prstGeom prst="roundRect">
            <a:avLst/>
          </a:prstGeom>
          <a:solidFill>
            <a:srgbClr val="ECFDF5"/>
          </a:solidFill>
          <a:ln w="12700">
            <a:solidFill>
              <a:srgbClr val="A7F3D0"/>
            </a:solidFill>
          </a:ln>
        </p:spPr>
        <p:txBody>
          <a:bodyPr wrap="square" lIns="91440" tIns="45720" rIns="91440" bIns="45720"/>
          <a:lstStyle/>
          <a:p>
            <a:pPr algn="l">
              <a:lnSpc>
                <a:spcPct val="110000"/>
              </a:lnSpc>
            </a:pPr>
            <a:r>
              <a:rPr lang="zh-CN" sz="1500" b="1">
                <a:solidFill>
                  <a:srgbClr val="1F2937"/>
                </a:solidFill>
                <a:latin typeface="Microsoft YaHei"/>
                <a:ea typeface="Microsoft YaHei"/>
              </a:rPr>
              <a:t>第一层：真实性</a:t>
            </a:r>
          </a:p>
          <a:p>
            <a:pPr algn="l">
              <a:lnSpc>
                <a:spcPct val="110000"/>
              </a:lnSpc>
            </a:pPr>
            <a:r>
              <a:rPr lang="zh-CN" sz="1500" b="1">
                <a:solidFill>
                  <a:srgbClr val="1F2937"/>
                </a:solidFill>
                <a:latin typeface="Microsoft YaHei"/>
                <a:ea typeface="Microsoft YaHei"/>
              </a:rPr>
              <a:t/>
            </a:r>
          </a:p>
          <a:p>
            <a:pPr algn="l">
              <a:lnSpc>
                <a:spcPct val="110000"/>
              </a:lnSpc>
            </a:pPr>
            <a:r>
              <a:rPr lang="zh-CN" sz="1500" b="1">
                <a:solidFill>
                  <a:srgbClr val="1F2937"/>
                </a:solidFill>
                <a:latin typeface="Microsoft YaHei"/>
                <a:ea typeface="Microsoft YaHei"/>
              </a:rPr>
              <a:t>• 六维鉴真风险</a:t>
            </a:r>
          </a:p>
          <a:p>
            <a:pPr algn="l">
              <a:lnSpc>
                <a:spcPct val="110000"/>
              </a:lnSpc>
            </a:pPr>
            <a:r>
              <a:rPr lang="zh-CN" sz="1500" b="1">
                <a:solidFill>
                  <a:srgbClr val="1F2937"/>
                </a:solidFill>
                <a:latin typeface="Microsoft YaHei"/>
                <a:ea typeface="Microsoft YaHei"/>
              </a:rPr>
              <a:t>• 风险值越低越可信</a:t>
            </a:r>
          </a:p>
          <a:p>
            <a:pPr algn="l">
              <a:lnSpc>
                <a:spcPct val="110000"/>
              </a:lnSpc>
            </a:pPr>
            <a:r>
              <a:rPr lang="zh-CN" sz="1500" b="1">
                <a:solidFill>
                  <a:srgbClr val="1F2937"/>
                </a:solidFill>
                <a:latin typeface="Microsoft YaHei"/>
                <a:ea typeface="Microsoft YaHei"/>
              </a:rPr>
              <a:t>• 高风险论文强降权</a:t>
            </a:r>
          </a:p>
          <a:p>
            <a:pPr algn="l">
              <a:lnSpc>
                <a:spcPct val="110000"/>
              </a:lnSpc>
            </a:pPr>
            <a:r>
              <a:rPr lang="zh-CN" sz="1500" b="1">
                <a:solidFill>
                  <a:srgbClr val="1F2937"/>
                </a:solidFill>
                <a:latin typeface="Microsoft YaHei"/>
                <a:ea typeface="Microsoft YaHei"/>
              </a:rPr>
              <a:t>• 未完成鉴真显示生成中</a:t>
            </a:r>
          </a:p>
        </p:txBody>
      </p:sp>
      <p:sp>
        <p:nvSpPr>
          <p:cNvPr id="20" name="Shape 20"/>
          <p:cNvSpPr txBox="1"/>
          <p:nvPr/>
        </p:nvSpPr>
        <p:spPr>
          <a:xfrm>
            <a:off x="3383280" y="1097280"/>
            <a:ext cx="2331720" cy="4114800"/>
          </a:xfrm>
          <a:prstGeom prst="roundRect">
            <a:avLst/>
          </a:prstGeom>
          <a:solidFill>
            <a:srgbClr val="EAF2FF"/>
          </a:solidFill>
          <a:ln w="12700">
            <a:solidFill>
              <a:srgbClr val="BBD6FF"/>
            </a:solidFill>
          </a:ln>
        </p:spPr>
        <p:txBody>
          <a:bodyPr wrap="square" lIns="91440" tIns="45720" rIns="91440" bIns="45720"/>
          <a:lstStyle/>
          <a:p>
            <a:pPr algn="l">
              <a:lnSpc>
                <a:spcPct val="110000"/>
              </a:lnSpc>
            </a:pPr>
            <a:r>
              <a:rPr lang="zh-CN" sz="1500" b="1">
                <a:solidFill>
                  <a:srgbClr val="1F2937"/>
                </a:solidFill>
                <a:latin typeface="Microsoft YaHei"/>
                <a:ea typeface="Microsoft YaHei"/>
              </a:rPr>
              <a:t>第二层：研究价值</a:t>
            </a:r>
          </a:p>
          <a:p>
            <a:pPr algn="l">
              <a:lnSpc>
                <a:spcPct val="110000"/>
              </a:lnSpc>
            </a:pPr>
            <a:r>
              <a:rPr lang="zh-CN" sz="1500" b="1">
                <a:solidFill>
                  <a:srgbClr val="1F2937"/>
                </a:solidFill>
                <a:latin typeface="Microsoft YaHei"/>
                <a:ea typeface="Microsoft YaHei"/>
              </a:rPr>
              <a:t/>
            </a:r>
          </a:p>
          <a:p>
            <a:pPr algn="l">
              <a:lnSpc>
                <a:spcPct val="110000"/>
              </a:lnSpc>
            </a:pPr>
            <a:r>
              <a:rPr lang="zh-CN" sz="1500" b="1">
                <a:solidFill>
                  <a:srgbClr val="1F2937"/>
                </a:solidFill>
                <a:latin typeface="Microsoft YaHei"/>
                <a:ea typeface="Microsoft YaHei"/>
              </a:rPr>
              <a:t>• 临床问题重要性</a:t>
            </a:r>
          </a:p>
          <a:p>
            <a:pPr algn="l">
              <a:lnSpc>
                <a:spcPct val="110000"/>
              </a:lnSpc>
            </a:pPr>
            <a:r>
              <a:rPr lang="zh-CN" sz="1500" b="1">
                <a:solidFill>
                  <a:srgbClr val="1F2937"/>
                </a:solidFill>
                <a:latin typeface="Microsoft YaHei"/>
                <a:ea typeface="Microsoft YaHei"/>
              </a:rPr>
              <a:t>• 证据等级</a:t>
            </a:r>
          </a:p>
          <a:p>
            <a:pPr algn="l">
              <a:lnSpc>
                <a:spcPct val="110000"/>
              </a:lnSpc>
            </a:pPr>
            <a:r>
              <a:rPr lang="zh-CN" sz="1500" b="1">
                <a:solidFill>
                  <a:srgbClr val="1F2937"/>
                </a:solidFill>
                <a:latin typeface="Microsoft YaHei"/>
                <a:ea typeface="Microsoft YaHei"/>
              </a:rPr>
              <a:t>• 样本量和设计</a:t>
            </a:r>
          </a:p>
          <a:p>
            <a:pPr algn="l">
              <a:lnSpc>
                <a:spcPct val="110000"/>
              </a:lnSpc>
            </a:pPr>
            <a:r>
              <a:rPr lang="zh-CN" sz="1500" b="1">
                <a:solidFill>
                  <a:srgbClr val="1F2937"/>
                </a:solidFill>
                <a:latin typeface="Microsoft YaHei"/>
                <a:ea typeface="Microsoft YaHei"/>
              </a:rPr>
              <a:t>• 统计方法扎实度</a:t>
            </a:r>
          </a:p>
          <a:p>
            <a:pPr algn="l">
              <a:lnSpc>
                <a:spcPct val="110000"/>
              </a:lnSpc>
            </a:pPr>
            <a:r>
              <a:rPr lang="zh-CN" sz="1500" b="1">
                <a:solidFill>
                  <a:srgbClr val="1F2937"/>
                </a:solidFill>
                <a:latin typeface="Microsoft YaHei"/>
                <a:ea typeface="Microsoft YaHei"/>
              </a:rPr>
              <a:t>• 可转化价值</a:t>
            </a:r>
          </a:p>
        </p:txBody>
      </p:sp>
      <p:sp>
        <p:nvSpPr>
          <p:cNvPr id="30" name="Shape 30"/>
          <p:cNvSpPr txBox="1"/>
          <p:nvPr/>
        </p:nvSpPr>
        <p:spPr>
          <a:xfrm>
            <a:off x="5989320" y="1097280"/>
            <a:ext cx="2331720" cy="4114800"/>
          </a:xfrm>
          <a:prstGeom prst="roundRect">
            <a:avLst/>
          </a:prstGeom>
          <a:solidFill>
            <a:srgbClr val="FFF7ED"/>
          </a:solidFill>
          <a:ln w="12700">
            <a:solidFill>
              <a:srgbClr val="FED7AA"/>
            </a:solidFill>
          </a:ln>
        </p:spPr>
        <p:txBody>
          <a:bodyPr wrap="square" lIns="91440" tIns="45720" rIns="91440" bIns="45720"/>
          <a:lstStyle/>
          <a:p>
            <a:pPr algn="l">
              <a:lnSpc>
                <a:spcPct val="110000"/>
              </a:lnSpc>
            </a:pPr>
            <a:r>
              <a:rPr lang="zh-CN" sz="1500" b="1">
                <a:solidFill>
                  <a:srgbClr val="1F2937"/>
                </a:solidFill>
                <a:latin typeface="Microsoft YaHei"/>
                <a:ea typeface="Microsoft YaHei"/>
              </a:rPr>
              <a:t>第三层：相关性</a:t>
            </a:r>
          </a:p>
          <a:p>
            <a:pPr algn="l">
              <a:lnSpc>
                <a:spcPct val="110000"/>
              </a:lnSpc>
            </a:pPr>
            <a:r>
              <a:rPr lang="zh-CN" sz="1500" b="1">
                <a:solidFill>
                  <a:srgbClr val="1F2937"/>
                </a:solidFill>
                <a:latin typeface="Microsoft YaHei"/>
                <a:ea typeface="Microsoft YaHei"/>
              </a:rPr>
              <a:t/>
            </a:r>
          </a:p>
          <a:p>
            <a:pPr algn="l">
              <a:lnSpc>
                <a:spcPct val="110000"/>
              </a:lnSpc>
            </a:pPr>
            <a:r>
              <a:rPr lang="zh-CN" sz="1500" b="1">
                <a:solidFill>
                  <a:srgbClr val="1F2937"/>
                </a:solidFill>
                <a:latin typeface="Microsoft YaHei"/>
                <a:ea typeface="Microsoft YaHei"/>
              </a:rPr>
              <a:t>• 是否匹配关注点</a:t>
            </a:r>
          </a:p>
          <a:p>
            <a:pPr algn="l">
              <a:lnSpc>
                <a:spcPct val="110000"/>
              </a:lnSpc>
            </a:pPr>
            <a:r>
              <a:rPr lang="zh-CN" sz="1500" b="1">
                <a:solidFill>
                  <a:srgbClr val="1F2937"/>
                </a:solidFill>
                <a:latin typeface="Microsoft YaHei"/>
                <a:ea typeface="Microsoft YaHei"/>
              </a:rPr>
              <a:t>• 是否贴合科室方向</a:t>
            </a:r>
          </a:p>
          <a:p>
            <a:pPr algn="l">
              <a:lnSpc>
                <a:spcPct val="110000"/>
              </a:lnSpc>
            </a:pPr>
            <a:r>
              <a:rPr lang="zh-CN" sz="1500" b="1">
                <a:solidFill>
                  <a:srgbClr val="1F2937"/>
                </a:solidFill>
                <a:latin typeface="Microsoft YaHei"/>
                <a:ea typeface="Microsoft YaHei"/>
              </a:rPr>
              <a:t>• 是否支持研究假设</a:t>
            </a:r>
          </a:p>
          <a:p>
            <a:pPr algn="l">
              <a:lnSpc>
                <a:spcPct val="110000"/>
              </a:lnSpc>
            </a:pPr>
            <a:r>
              <a:rPr lang="zh-CN" sz="1500" b="1">
                <a:solidFill>
                  <a:srgbClr val="1F2937"/>
                </a:solidFill>
                <a:latin typeface="Microsoft YaHei"/>
                <a:ea typeface="Microsoft YaHei"/>
              </a:rPr>
              <a:t>• 是否能形成选题</a:t>
            </a:r>
          </a:p>
        </p:txBody>
      </p:sp>
      <p:sp>
        <p:nvSpPr>
          <p:cNvPr id="40" name="Shape 40"/>
          <p:cNvSpPr txBox="1"/>
          <p:nvPr/>
        </p:nvSpPr>
        <p:spPr>
          <a:xfrm>
            <a:off x="8595360" y="1097280"/>
            <a:ext cx="2331720" cy="4114800"/>
          </a:xfrm>
          <a:prstGeom prst="roundRect">
            <a:avLst/>
          </a:prstGeom>
          <a:solidFill>
            <a:srgbClr val="F5F3FF"/>
          </a:solidFill>
          <a:ln w="12700">
            <a:solidFill>
              <a:srgbClr val="DDD6FE"/>
            </a:solidFill>
          </a:ln>
        </p:spPr>
        <p:txBody>
          <a:bodyPr wrap="square" lIns="91440" tIns="45720" rIns="91440" bIns="45720"/>
          <a:lstStyle/>
          <a:p>
            <a:pPr algn="l">
              <a:lnSpc>
                <a:spcPct val="110000"/>
              </a:lnSpc>
            </a:pPr>
            <a:r>
              <a:rPr lang="zh-CN" sz="1500" b="1">
                <a:solidFill>
                  <a:srgbClr val="1F2937"/>
                </a:solidFill>
                <a:latin typeface="Microsoft YaHei"/>
                <a:ea typeface="Microsoft YaHei"/>
              </a:rPr>
              <a:t>第四层：可用性</a:t>
            </a:r>
          </a:p>
          <a:p>
            <a:pPr algn="l">
              <a:lnSpc>
                <a:spcPct val="110000"/>
              </a:lnSpc>
            </a:pPr>
            <a:r>
              <a:rPr lang="zh-CN" sz="1500" b="1">
                <a:solidFill>
                  <a:srgbClr val="1F2937"/>
                </a:solidFill>
                <a:latin typeface="Microsoft YaHei"/>
                <a:ea typeface="Microsoft YaHei"/>
              </a:rPr>
              <a:t/>
            </a:r>
          </a:p>
          <a:p>
            <a:pPr algn="l">
              <a:lnSpc>
                <a:spcPct val="110000"/>
              </a:lnSpc>
            </a:pPr>
            <a:r>
              <a:rPr lang="zh-CN" sz="1500" b="1">
                <a:solidFill>
                  <a:srgbClr val="1F2937"/>
                </a:solidFill>
                <a:latin typeface="Microsoft YaHei"/>
                <a:ea typeface="Microsoft YaHei"/>
              </a:rPr>
              <a:t>• 是否已索引</a:t>
            </a:r>
          </a:p>
          <a:p>
            <a:pPr algn="l">
              <a:lnSpc>
                <a:spcPct val="110000"/>
              </a:lnSpc>
            </a:pPr>
            <a:r>
              <a:rPr lang="zh-CN" sz="1500" b="1">
                <a:solidFill>
                  <a:srgbClr val="1F2937"/>
                </a:solidFill>
                <a:latin typeface="Microsoft YaHei"/>
                <a:ea typeface="Microsoft YaHei"/>
              </a:rPr>
              <a:t>• 是否有全文</a:t>
            </a:r>
          </a:p>
          <a:p>
            <a:pPr algn="l">
              <a:lnSpc>
                <a:spcPct val="110000"/>
              </a:lnSpc>
            </a:pPr>
            <a:r>
              <a:rPr lang="zh-CN" sz="1500" b="1">
                <a:solidFill>
                  <a:srgbClr val="1F2937"/>
                </a:solidFill>
                <a:latin typeface="Microsoft YaHei"/>
                <a:ea typeface="Microsoft YaHei"/>
              </a:rPr>
              <a:t>• 是否可精读</a:t>
            </a:r>
          </a:p>
          <a:p>
            <a:pPr algn="l">
              <a:lnSpc>
                <a:spcPct val="110000"/>
              </a:lnSpc>
            </a:pPr>
            <a:r>
              <a:rPr lang="zh-CN" sz="1500" b="1">
                <a:solidFill>
                  <a:srgbClr val="1F2937"/>
                </a:solidFill>
                <a:latin typeface="Microsoft YaHei"/>
                <a:ea typeface="Microsoft YaHei"/>
              </a:rPr>
              <a:t>• 是否可直接引用和写作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7F9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00" name="Shape 900"/>
          <p:cNvSpPr txBox="1"/>
          <p:nvPr/>
        </p:nvSpPr>
        <p:spPr>
          <a:xfrm>
            <a:off x="411480" y="256032"/>
            <a:ext cx="164592" cy="411480"/>
          </a:xfrm>
          <a:prstGeom prst="rect">
            <a:avLst/>
          </a:prstGeom>
          <a:solidFill>
            <a:srgbClr val="1677FF"/>
          </a:solidFill>
          <a:ln>
            <a:noFill/>
          </a:ln>
        </p:spPr>
        <p:txBody>
          <a:bodyPr/>
          <a:lstStyle/>
          <a:p/>
        </p:txBody>
      </p:sp>
      <p:sp>
        <p:nvSpPr>
          <p:cNvPr id="901" name="Shape 901"/>
          <p:cNvSpPr txBox="1"/>
          <p:nvPr/>
        </p:nvSpPr>
        <p:spPr>
          <a:xfrm>
            <a:off x="658368" y="201168"/>
            <a:ext cx="8046720" cy="411480"/>
          </a:xfrm>
          <a:prstGeom prst="roundRect">
            <a:avLst/>
          </a:prstGeom>
          <a:noFill/>
          <a:ln>
            <a:noFill/>
          </a:ln>
        </p:spPr>
        <p:txBody>
          <a:bodyPr wrap="square" lIns="91440" tIns="45720" rIns="91440" bIns="45720"/>
          <a:lstStyle/>
          <a:p>
            <a:pPr algn="l">
              <a:lnSpc>
                <a:spcPct val="110000"/>
              </a:lnSpc>
            </a:pPr>
            <a:r>
              <a:rPr lang="zh-CN" sz="2500" b="1">
                <a:solidFill>
                  <a:srgbClr val="111827"/>
                </a:solidFill>
                <a:latin typeface="Microsoft YaHei"/>
                <a:ea typeface="Microsoft YaHei"/>
              </a:rPr>
              <a:t>核心能力二：医学文献知识库</a:t>
            </a:r>
          </a:p>
        </p:txBody>
      </p:sp>
      <p:sp>
        <p:nvSpPr>
          <p:cNvPr id="902" name="Shape 902"/>
          <p:cNvSpPr txBox="1"/>
          <p:nvPr/>
        </p:nvSpPr>
        <p:spPr>
          <a:xfrm>
            <a:off x="658368" y="621792"/>
            <a:ext cx="9601200" cy="320040"/>
          </a:xfrm>
          <a:prstGeom prst="roundRect">
            <a:avLst/>
          </a:prstGeom>
          <a:noFill/>
          <a:ln>
            <a:noFill/>
          </a:ln>
        </p:spPr>
        <p:txBody>
          <a:bodyPr wrap="square" lIns="91440" tIns="45720" rIns="91440" bIns="45720"/>
          <a:lstStyle/>
          <a:p>
            <a:pPr algn="l">
              <a:lnSpc>
                <a:spcPct val="110000"/>
              </a:lnSpc>
            </a:pPr>
            <a:r>
              <a:rPr lang="zh-CN" sz="1100">
                <a:solidFill>
                  <a:srgbClr val="6B7280"/>
                </a:solidFill>
                <a:latin typeface="Microsoft YaHei"/>
                <a:ea typeface="Microsoft YaHei"/>
              </a:rPr>
              <a:t>AI 把 PDF/XML/指南/综述转成可检索、可问答、可引用的知识资产</a:t>
            </a:r>
          </a:p>
        </p:txBody>
      </p:sp>
      <p:sp>
        <p:nvSpPr>
          <p:cNvPr id="10" name="Shape 10"/>
          <p:cNvSpPr txBox="1"/>
          <p:nvPr/>
        </p:nvSpPr>
        <p:spPr>
          <a:xfrm>
            <a:off x="731520" y="1234440"/>
            <a:ext cx="1600200" cy="658368"/>
          </a:xfrm>
          <a:prstGeom prst="roundRect">
            <a:avLst/>
          </a:prstGeom>
          <a:solidFill>
            <a:srgbClr val="EAF2FF"/>
          </a:solidFill>
          <a:ln w="12700">
            <a:solidFill>
              <a:srgbClr val="BBD6FF"/>
            </a:solidFill>
          </a:ln>
        </p:spPr>
        <p:txBody>
          <a:bodyPr wrap="square" lIns="91440" tIns="45720" rIns="91440" bIns="45720"/>
          <a:lstStyle/>
          <a:p>
            <a:pPr algn="ctr">
              <a:lnSpc>
                <a:spcPct val="110000"/>
              </a:lnSpc>
            </a:pPr>
            <a:r>
              <a:rPr lang="zh-CN" sz="1200" b="1">
                <a:solidFill>
                  <a:srgbClr val="1F2937"/>
                </a:solidFill>
                <a:latin typeface="Microsoft YaHei"/>
                <a:ea typeface="Microsoft YaHei"/>
              </a:rPr>
              <a:t>上传/同步</a:t>
            </a:r>
          </a:p>
        </p:txBody>
      </p:sp>
      <p:sp>
        <p:nvSpPr>
          <p:cNvPr id="11" name="Shape 11"/>
          <p:cNvSpPr txBox="1"/>
          <p:nvPr/>
        </p:nvSpPr>
        <p:spPr>
          <a:xfrm>
            <a:off x="2359152" y="1417320"/>
            <a:ext cx="411480" cy="292608"/>
          </a:xfrm>
          <a:prstGeom prst="rightArrow">
            <a:avLst/>
          </a:prstGeom>
          <a:solidFill>
            <a:srgbClr val="1677FF"/>
          </a:solidFill>
          <a:ln>
            <a:noFill/>
          </a:ln>
        </p:spPr>
        <p:txBody>
          <a:bodyPr/>
          <a:lstStyle/>
          <a:p/>
        </p:txBody>
      </p:sp>
      <p:sp>
        <p:nvSpPr>
          <p:cNvPr id="13" name="Shape 13"/>
          <p:cNvSpPr txBox="1"/>
          <p:nvPr/>
        </p:nvSpPr>
        <p:spPr>
          <a:xfrm>
            <a:off x="2724912" y="1234440"/>
            <a:ext cx="1600200" cy="658368"/>
          </a:xfrm>
          <a:prstGeom prst="roundRect">
            <a:avLst/>
          </a:prstGeom>
          <a:solidFill>
            <a:srgbClr val="EAF2FF"/>
          </a:solidFill>
          <a:ln w="12700">
            <a:solidFill>
              <a:srgbClr val="BBD6FF"/>
            </a:solidFill>
          </a:ln>
        </p:spPr>
        <p:txBody>
          <a:bodyPr wrap="square" lIns="91440" tIns="45720" rIns="91440" bIns="45720"/>
          <a:lstStyle/>
          <a:p>
            <a:pPr algn="ctr">
              <a:lnSpc>
                <a:spcPct val="110000"/>
              </a:lnSpc>
            </a:pPr>
            <a:r>
              <a:rPr lang="zh-CN" sz="1200" b="1">
                <a:solidFill>
                  <a:srgbClr val="1F2937"/>
                </a:solidFill>
                <a:latin typeface="Microsoft YaHei"/>
                <a:ea typeface="Microsoft YaHei"/>
              </a:rPr>
              <a:t>解析正文</a:t>
            </a:r>
          </a:p>
        </p:txBody>
      </p:sp>
      <p:sp>
        <p:nvSpPr>
          <p:cNvPr id="14" name="Shape 14"/>
          <p:cNvSpPr txBox="1"/>
          <p:nvPr/>
        </p:nvSpPr>
        <p:spPr>
          <a:xfrm>
            <a:off x="4352544" y="1417320"/>
            <a:ext cx="411480" cy="292608"/>
          </a:xfrm>
          <a:prstGeom prst="rightArrow">
            <a:avLst/>
          </a:prstGeom>
          <a:solidFill>
            <a:srgbClr val="1677FF"/>
          </a:solidFill>
          <a:ln>
            <a:noFill/>
          </a:ln>
        </p:spPr>
        <p:txBody>
          <a:bodyPr/>
          <a:lstStyle/>
          <a:p/>
        </p:txBody>
      </p:sp>
      <p:sp>
        <p:nvSpPr>
          <p:cNvPr id="16" name="Shape 16"/>
          <p:cNvSpPr txBox="1"/>
          <p:nvPr/>
        </p:nvSpPr>
        <p:spPr>
          <a:xfrm>
            <a:off x="4718304" y="1234440"/>
            <a:ext cx="1600200" cy="658368"/>
          </a:xfrm>
          <a:prstGeom prst="roundRect">
            <a:avLst/>
          </a:prstGeom>
          <a:solidFill>
            <a:srgbClr val="EAF2FF"/>
          </a:solidFill>
          <a:ln w="12700">
            <a:solidFill>
              <a:srgbClr val="BBD6FF"/>
            </a:solidFill>
          </a:ln>
        </p:spPr>
        <p:txBody>
          <a:bodyPr wrap="square" lIns="91440" tIns="45720" rIns="91440" bIns="45720"/>
          <a:lstStyle/>
          <a:p>
            <a:pPr algn="ctr">
              <a:lnSpc>
                <a:spcPct val="110000"/>
              </a:lnSpc>
            </a:pPr>
            <a:r>
              <a:rPr lang="zh-CN" sz="1200" b="1">
                <a:solidFill>
                  <a:srgbClr val="1F2937"/>
                </a:solidFill>
                <a:latin typeface="Microsoft YaHei"/>
                <a:ea typeface="Microsoft YaHei"/>
              </a:rPr>
              <a:t>语义切分</a:t>
            </a:r>
          </a:p>
        </p:txBody>
      </p:sp>
      <p:sp>
        <p:nvSpPr>
          <p:cNvPr id="17" name="Shape 17"/>
          <p:cNvSpPr txBox="1"/>
          <p:nvPr/>
        </p:nvSpPr>
        <p:spPr>
          <a:xfrm>
            <a:off x="6345936" y="1417320"/>
            <a:ext cx="411480" cy="292608"/>
          </a:xfrm>
          <a:prstGeom prst="rightArrow">
            <a:avLst/>
          </a:prstGeom>
          <a:solidFill>
            <a:srgbClr val="1677FF"/>
          </a:solidFill>
          <a:ln>
            <a:noFill/>
          </a:ln>
        </p:spPr>
        <p:txBody>
          <a:bodyPr/>
          <a:lstStyle/>
          <a:p/>
        </p:txBody>
      </p:sp>
      <p:sp>
        <p:nvSpPr>
          <p:cNvPr id="19" name="Shape 19"/>
          <p:cNvSpPr txBox="1"/>
          <p:nvPr/>
        </p:nvSpPr>
        <p:spPr>
          <a:xfrm>
            <a:off x="6711696" y="1234440"/>
            <a:ext cx="1600200" cy="658368"/>
          </a:xfrm>
          <a:prstGeom prst="roundRect">
            <a:avLst/>
          </a:prstGeom>
          <a:solidFill>
            <a:srgbClr val="EAF2FF"/>
          </a:solidFill>
          <a:ln w="12700">
            <a:solidFill>
              <a:srgbClr val="BBD6FF"/>
            </a:solidFill>
          </a:ln>
        </p:spPr>
        <p:txBody>
          <a:bodyPr wrap="square" lIns="91440" tIns="45720" rIns="91440" bIns="45720"/>
          <a:lstStyle/>
          <a:p>
            <a:pPr algn="ctr">
              <a:lnSpc>
                <a:spcPct val="110000"/>
              </a:lnSpc>
            </a:pPr>
            <a:r>
              <a:rPr lang="zh-CN" sz="1200" b="1">
                <a:solidFill>
                  <a:srgbClr val="1F2937"/>
                </a:solidFill>
                <a:latin typeface="Microsoft YaHei"/>
                <a:ea typeface="Microsoft YaHei"/>
              </a:rPr>
              <a:t>向量索引</a:t>
            </a:r>
          </a:p>
        </p:txBody>
      </p:sp>
      <p:sp>
        <p:nvSpPr>
          <p:cNvPr id="20" name="Shape 20"/>
          <p:cNvSpPr txBox="1"/>
          <p:nvPr/>
        </p:nvSpPr>
        <p:spPr>
          <a:xfrm>
            <a:off x="8339327" y="1417320"/>
            <a:ext cx="411480" cy="292608"/>
          </a:xfrm>
          <a:prstGeom prst="rightArrow">
            <a:avLst/>
          </a:prstGeom>
          <a:solidFill>
            <a:srgbClr val="1677FF"/>
          </a:solidFill>
          <a:ln>
            <a:noFill/>
          </a:ln>
        </p:spPr>
        <p:txBody>
          <a:bodyPr/>
          <a:lstStyle/>
          <a:p/>
        </p:txBody>
      </p:sp>
      <p:sp>
        <p:nvSpPr>
          <p:cNvPr id="22" name="Shape 22"/>
          <p:cNvSpPr txBox="1"/>
          <p:nvPr/>
        </p:nvSpPr>
        <p:spPr>
          <a:xfrm>
            <a:off x="8705088" y="1234440"/>
            <a:ext cx="1600200" cy="658368"/>
          </a:xfrm>
          <a:prstGeom prst="roundRect">
            <a:avLst/>
          </a:prstGeom>
          <a:solidFill>
            <a:srgbClr val="EAF2FF"/>
          </a:solidFill>
          <a:ln w="12700">
            <a:solidFill>
              <a:srgbClr val="BBD6FF"/>
            </a:solidFill>
          </a:ln>
        </p:spPr>
        <p:txBody>
          <a:bodyPr wrap="square" lIns="91440" tIns="45720" rIns="91440" bIns="45720"/>
          <a:lstStyle/>
          <a:p>
            <a:pPr algn="ctr">
              <a:lnSpc>
                <a:spcPct val="110000"/>
              </a:lnSpc>
            </a:pPr>
            <a:r>
              <a:rPr lang="zh-CN" sz="1200" b="1">
                <a:solidFill>
                  <a:srgbClr val="1F2937"/>
                </a:solidFill>
                <a:latin typeface="Microsoft YaHei"/>
                <a:ea typeface="Microsoft YaHei"/>
              </a:rPr>
              <a:t>问答引用</a:t>
            </a:r>
          </a:p>
        </p:txBody>
      </p:sp>
      <p:sp>
        <p:nvSpPr>
          <p:cNvPr id="40" name="Shape 40"/>
          <p:cNvSpPr txBox="1"/>
          <p:nvPr/>
        </p:nvSpPr>
        <p:spPr>
          <a:xfrm>
            <a:off x="777240" y="2743200"/>
            <a:ext cx="2377440" cy="219456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5E7EB"/>
            </a:solidFill>
          </a:ln>
        </p:spPr>
        <p:txBody>
          <a:bodyPr wrap="square" lIns="91440" tIns="45720" rIns="91440" bIns="45720"/>
          <a:lstStyle/>
          <a:p>
            <a:pPr algn="l">
              <a:lnSpc>
                <a:spcPct val="110000"/>
              </a:lnSpc>
            </a:pPr>
            <a:r>
              <a:rPr lang="zh-CN" sz="1500">
                <a:solidFill>
                  <a:srgbClr val="1F2937"/>
                </a:solidFill>
                <a:latin typeface="Microsoft YaHei"/>
                <a:ea typeface="Microsoft YaHei"/>
              </a:rPr>
              <a:t>语义检索</a:t>
            </a:r>
          </a:p>
          <a:p>
            <a:pPr algn="l">
              <a:lnSpc>
                <a:spcPct val="110000"/>
              </a:lnSpc>
            </a:pPr>
            <a:r>
              <a:rPr lang="zh-CN" sz="1500">
                <a:solidFill>
                  <a:srgbClr val="1F2937"/>
                </a:solidFill>
                <a:latin typeface="Microsoft YaHei"/>
                <a:ea typeface="Microsoft YaHei"/>
              </a:rPr>
              <a:t/>
            </a:r>
          </a:p>
          <a:p>
            <a:pPr algn="l">
              <a:lnSpc>
                <a:spcPct val="110000"/>
              </a:lnSpc>
            </a:pPr>
            <a:r>
              <a:rPr lang="zh-CN" sz="1500">
                <a:solidFill>
                  <a:srgbClr val="1F2937"/>
                </a:solidFill>
                <a:latin typeface="Microsoft YaHei"/>
                <a:ea typeface="Microsoft YaHei"/>
              </a:rPr>
              <a:t>不是关键词匹配，而是按研究问题找到相关段落</a:t>
            </a:r>
          </a:p>
        </p:txBody>
      </p:sp>
      <p:sp>
        <p:nvSpPr>
          <p:cNvPr id="50" name="Shape 50"/>
          <p:cNvSpPr txBox="1"/>
          <p:nvPr/>
        </p:nvSpPr>
        <p:spPr>
          <a:xfrm>
            <a:off x="3429000" y="2743200"/>
            <a:ext cx="2377440" cy="219456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5E7EB"/>
            </a:solidFill>
          </a:ln>
        </p:spPr>
        <p:txBody>
          <a:bodyPr wrap="square" lIns="91440" tIns="45720" rIns="91440" bIns="45720"/>
          <a:lstStyle/>
          <a:p>
            <a:pPr algn="l">
              <a:lnSpc>
                <a:spcPct val="110000"/>
              </a:lnSpc>
            </a:pPr>
            <a:r>
              <a:rPr lang="zh-CN" sz="1500">
                <a:solidFill>
                  <a:srgbClr val="1F2937"/>
                </a:solidFill>
                <a:latin typeface="Microsoft YaHei"/>
                <a:ea typeface="Microsoft YaHei"/>
              </a:rPr>
              <a:t>证据溯源</a:t>
            </a:r>
          </a:p>
          <a:p>
            <a:pPr algn="l">
              <a:lnSpc>
                <a:spcPct val="110000"/>
              </a:lnSpc>
            </a:pPr>
            <a:r>
              <a:rPr lang="zh-CN" sz="1500">
                <a:solidFill>
                  <a:srgbClr val="1F2937"/>
                </a:solidFill>
                <a:latin typeface="Microsoft YaHei"/>
                <a:ea typeface="Microsoft YaHei"/>
              </a:rPr>
              <a:t/>
            </a:r>
          </a:p>
          <a:p>
            <a:pPr algn="l">
              <a:lnSpc>
                <a:spcPct val="110000"/>
              </a:lnSpc>
            </a:pPr>
            <a:r>
              <a:rPr lang="zh-CN" sz="1500">
                <a:solidFill>
                  <a:srgbClr val="1F2937"/>
                </a:solidFill>
                <a:latin typeface="Microsoft YaHei"/>
                <a:ea typeface="Microsoft YaHei"/>
              </a:rPr>
              <a:t>回答必须关联论文标题、作者、期刊和片段</a:t>
            </a:r>
          </a:p>
        </p:txBody>
      </p:sp>
      <p:sp>
        <p:nvSpPr>
          <p:cNvPr id="60" name="Shape 60"/>
          <p:cNvSpPr txBox="1"/>
          <p:nvPr/>
        </p:nvSpPr>
        <p:spPr>
          <a:xfrm>
            <a:off x="6080760" y="2743200"/>
            <a:ext cx="2194560" cy="219456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5E7EB"/>
            </a:solidFill>
          </a:ln>
        </p:spPr>
        <p:txBody>
          <a:bodyPr wrap="square" lIns="91440" tIns="45720" rIns="91440" bIns="45720"/>
          <a:lstStyle/>
          <a:p>
            <a:pPr algn="l">
              <a:lnSpc>
                <a:spcPct val="110000"/>
              </a:lnSpc>
            </a:pPr>
            <a:r>
              <a:rPr lang="zh-CN" sz="1500">
                <a:solidFill>
                  <a:srgbClr val="1F2937"/>
                </a:solidFill>
                <a:latin typeface="Microsoft YaHei"/>
                <a:ea typeface="Microsoft YaHei"/>
              </a:rPr>
              <a:t>自动索引</a:t>
            </a:r>
          </a:p>
          <a:p>
            <a:pPr algn="l">
              <a:lnSpc>
                <a:spcPct val="110000"/>
              </a:lnSpc>
            </a:pPr>
            <a:r>
              <a:rPr lang="zh-CN" sz="1500">
                <a:solidFill>
                  <a:srgbClr val="1F2937"/>
                </a:solidFill>
                <a:latin typeface="Microsoft YaHei"/>
                <a:ea typeface="Microsoft YaHei"/>
              </a:rPr>
              <a:t/>
            </a:r>
          </a:p>
          <a:p>
            <a:pPr algn="l">
              <a:lnSpc>
                <a:spcPct val="110000"/>
              </a:lnSpc>
            </a:pPr>
            <a:r>
              <a:rPr lang="zh-CN" sz="1500">
                <a:solidFill>
                  <a:srgbClr val="1F2937"/>
                </a:solidFill>
                <a:latin typeface="Microsoft YaHei"/>
                <a:ea typeface="Microsoft YaHei"/>
              </a:rPr>
              <a:t>失败重试、手动重建索引，保证知识库可用</a:t>
            </a:r>
          </a:p>
        </p:txBody>
      </p:sp>
      <p:sp>
        <p:nvSpPr>
          <p:cNvPr id="70" name="Shape 70"/>
          <p:cNvSpPr txBox="1"/>
          <p:nvPr/>
        </p:nvSpPr>
        <p:spPr>
          <a:xfrm>
            <a:off x="8458200" y="2743200"/>
            <a:ext cx="2194560" cy="219456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5E7EB"/>
            </a:solidFill>
          </a:ln>
        </p:spPr>
        <p:txBody>
          <a:bodyPr wrap="square" lIns="91440" tIns="45720" rIns="91440" bIns="45720"/>
          <a:lstStyle/>
          <a:p>
            <a:pPr algn="l">
              <a:lnSpc>
                <a:spcPct val="110000"/>
              </a:lnSpc>
            </a:pPr>
            <a:r>
              <a:rPr lang="zh-CN" sz="1500">
                <a:solidFill>
                  <a:srgbClr val="1F2937"/>
                </a:solidFill>
                <a:latin typeface="Microsoft YaHei"/>
                <a:ea typeface="Microsoft YaHei"/>
              </a:rPr>
              <a:t>科室沉淀</a:t>
            </a:r>
          </a:p>
          <a:p>
            <a:pPr algn="l">
              <a:lnSpc>
                <a:spcPct val="110000"/>
              </a:lnSpc>
            </a:pPr>
            <a:r>
              <a:rPr lang="zh-CN" sz="1500">
                <a:solidFill>
                  <a:srgbClr val="1F2937"/>
                </a:solidFill>
                <a:latin typeface="Microsoft YaHei"/>
                <a:ea typeface="Microsoft YaHei"/>
              </a:rPr>
              <a:t/>
            </a:r>
          </a:p>
          <a:p>
            <a:pPr algn="l">
              <a:lnSpc>
                <a:spcPct val="110000"/>
              </a:lnSpc>
            </a:pPr>
            <a:r>
              <a:rPr lang="zh-CN" sz="1500">
                <a:solidFill>
                  <a:srgbClr val="1F2937"/>
                </a:solidFill>
                <a:latin typeface="Microsoft YaHei"/>
                <a:ea typeface="Microsoft YaHei"/>
              </a:rPr>
              <a:t>把个人阅读转成科室长期可复用资产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7F9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00" name="Shape 900"/>
          <p:cNvSpPr txBox="1"/>
          <p:nvPr/>
        </p:nvSpPr>
        <p:spPr>
          <a:xfrm>
            <a:off x="411480" y="256032"/>
            <a:ext cx="164592" cy="411480"/>
          </a:xfrm>
          <a:prstGeom prst="rect">
            <a:avLst/>
          </a:prstGeom>
          <a:solidFill>
            <a:srgbClr val="1677FF"/>
          </a:solidFill>
          <a:ln>
            <a:noFill/>
          </a:ln>
        </p:spPr>
        <p:txBody>
          <a:bodyPr/>
          <a:lstStyle/>
          <a:p/>
        </p:txBody>
      </p:sp>
      <p:sp>
        <p:nvSpPr>
          <p:cNvPr id="901" name="Shape 901"/>
          <p:cNvSpPr txBox="1"/>
          <p:nvPr/>
        </p:nvSpPr>
        <p:spPr>
          <a:xfrm>
            <a:off x="658368" y="201168"/>
            <a:ext cx="8046720" cy="411480"/>
          </a:xfrm>
          <a:prstGeom prst="roundRect">
            <a:avLst/>
          </a:prstGeom>
          <a:noFill/>
          <a:ln>
            <a:noFill/>
          </a:ln>
        </p:spPr>
        <p:txBody>
          <a:bodyPr wrap="square" lIns="91440" tIns="45720" rIns="91440" bIns="45720"/>
          <a:lstStyle/>
          <a:p>
            <a:pPr algn="l">
              <a:lnSpc>
                <a:spcPct val="110000"/>
              </a:lnSpc>
            </a:pPr>
            <a:r>
              <a:rPr lang="zh-CN" sz="2500" b="1">
                <a:solidFill>
                  <a:srgbClr val="111827"/>
                </a:solidFill>
                <a:latin typeface="Microsoft YaHei"/>
                <a:ea typeface="Microsoft YaHei"/>
              </a:rPr>
              <a:t>核心能力三：论文精读与鉴真</a:t>
            </a:r>
          </a:p>
        </p:txBody>
      </p:sp>
      <p:sp>
        <p:nvSpPr>
          <p:cNvPr id="902" name="Shape 902"/>
          <p:cNvSpPr txBox="1"/>
          <p:nvPr/>
        </p:nvSpPr>
        <p:spPr>
          <a:xfrm>
            <a:off x="658368" y="621792"/>
            <a:ext cx="9601200" cy="320040"/>
          </a:xfrm>
          <a:prstGeom prst="roundRect">
            <a:avLst/>
          </a:prstGeom>
          <a:noFill/>
          <a:ln>
            <a:noFill/>
          </a:ln>
        </p:spPr>
        <p:txBody>
          <a:bodyPr wrap="square" lIns="91440" tIns="45720" rIns="91440" bIns="45720"/>
          <a:lstStyle/>
          <a:p>
            <a:pPr algn="l">
              <a:lnSpc>
                <a:spcPct val="110000"/>
              </a:lnSpc>
            </a:pPr>
            <a:r>
              <a:rPr lang="zh-CN" sz="1100">
                <a:solidFill>
                  <a:srgbClr val="6B7280"/>
                </a:solidFill>
                <a:latin typeface="Microsoft YaHei"/>
                <a:ea typeface="Microsoft YaHei"/>
              </a:rPr>
              <a:t>AI 先读全文、先做风险判断，医生再决定是否精读和引用</a:t>
            </a:r>
          </a:p>
        </p:txBody>
      </p:sp>
      <p:sp>
        <p:nvSpPr>
          <p:cNvPr id="10" name="Shape 10"/>
          <p:cNvSpPr txBox="1"/>
          <p:nvPr/>
        </p:nvSpPr>
        <p:spPr>
          <a:xfrm>
            <a:off x="685800" y="1143000"/>
            <a:ext cx="2514600" cy="416052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5E7EB"/>
            </a:solidFill>
          </a:ln>
        </p:spPr>
        <p:txBody>
          <a:bodyPr wrap="square" lIns="91440" tIns="45720" rIns="91440" bIns="45720"/>
          <a:lstStyle/>
          <a:p>
            <a:pPr algn="l">
              <a:lnSpc>
                <a:spcPct val="110000"/>
              </a:lnSpc>
            </a:pPr>
            <a:r>
              <a:rPr lang="zh-CN" sz="1400">
                <a:solidFill>
                  <a:srgbClr val="1F2937"/>
                </a:solidFill>
                <a:latin typeface="Microsoft YaHei"/>
                <a:ea typeface="Microsoft YaHei"/>
              </a:rPr>
              <a:t>异步精读卡片</a:t>
            </a:r>
          </a:p>
          <a:p>
            <a:pPr algn="l">
              <a:lnSpc>
                <a:spcPct val="110000"/>
              </a:lnSpc>
            </a:pPr>
            <a:r>
              <a:rPr lang="zh-CN" sz="1400">
                <a:solidFill>
                  <a:srgbClr val="1F2937"/>
                </a:solidFill>
                <a:latin typeface="Microsoft YaHei"/>
                <a:ea typeface="Microsoft YaHei"/>
              </a:rPr>
              <a:t/>
            </a:r>
          </a:p>
          <a:p>
            <a:pPr algn="l">
              <a:lnSpc>
                <a:spcPct val="110000"/>
              </a:lnSpc>
            </a:pPr>
            <a:r>
              <a:rPr lang="zh-CN" sz="1400">
                <a:solidFill>
                  <a:srgbClr val="1F2937"/>
                </a:solidFill>
                <a:latin typeface="Microsoft YaHei"/>
                <a:ea typeface="Microsoft YaHei"/>
              </a:rPr>
              <a:t>• 研究问题</a:t>
            </a:r>
          </a:p>
          <a:p>
            <a:pPr algn="l">
              <a:lnSpc>
                <a:spcPct val="110000"/>
              </a:lnSpc>
            </a:pPr>
            <a:r>
              <a:rPr lang="zh-CN" sz="1400">
                <a:solidFill>
                  <a:srgbClr val="1F2937"/>
                </a:solidFill>
                <a:latin typeface="Microsoft YaHei"/>
                <a:ea typeface="Microsoft YaHei"/>
              </a:rPr>
              <a:t>• 研究设计</a:t>
            </a:r>
          </a:p>
          <a:p>
            <a:pPr algn="l">
              <a:lnSpc>
                <a:spcPct val="110000"/>
              </a:lnSpc>
            </a:pPr>
            <a:r>
              <a:rPr lang="zh-CN" sz="1400">
                <a:solidFill>
                  <a:srgbClr val="1F2937"/>
                </a:solidFill>
                <a:latin typeface="Microsoft YaHei"/>
                <a:ea typeface="Microsoft YaHei"/>
              </a:rPr>
              <a:t>• 样本量</a:t>
            </a:r>
          </a:p>
          <a:p>
            <a:pPr algn="l">
              <a:lnSpc>
                <a:spcPct val="110000"/>
              </a:lnSpc>
            </a:pPr>
            <a:r>
              <a:rPr lang="zh-CN" sz="1400">
                <a:solidFill>
                  <a:srgbClr val="1F2937"/>
                </a:solidFill>
                <a:latin typeface="Microsoft YaHei"/>
                <a:ea typeface="Microsoft YaHei"/>
              </a:rPr>
              <a:t>• 主要结局</a:t>
            </a:r>
          </a:p>
          <a:p>
            <a:pPr algn="l">
              <a:lnSpc>
                <a:spcPct val="110000"/>
              </a:lnSpc>
            </a:pPr>
            <a:r>
              <a:rPr lang="zh-CN" sz="1400">
                <a:solidFill>
                  <a:srgbClr val="1F2937"/>
                </a:solidFill>
                <a:latin typeface="Microsoft YaHei"/>
                <a:ea typeface="Microsoft YaHei"/>
              </a:rPr>
              <a:t>• 统计方法</a:t>
            </a:r>
          </a:p>
          <a:p>
            <a:pPr algn="l">
              <a:lnSpc>
                <a:spcPct val="110000"/>
              </a:lnSpc>
            </a:pPr>
            <a:r>
              <a:rPr lang="zh-CN" sz="1400">
                <a:solidFill>
                  <a:srgbClr val="1F2937"/>
                </a:solidFill>
                <a:latin typeface="Microsoft YaHei"/>
                <a:ea typeface="Microsoft YaHei"/>
              </a:rPr>
              <a:t>• 临床意义</a:t>
            </a:r>
          </a:p>
          <a:p>
            <a:pPr algn="l">
              <a:lnSpc>
                <a:spcPct val="110000"/>
              </a:lnSpc>
            </a:pPr>
            <a:r>
              <a:rPr lang="zh-CN" sz="1400">
                <a:solidFill>
                  <a:srgbClr val="1F2937"/>
                </a:solidFill>
                <a:latin typeface="Microsoft YaHei"/>
                <a:ea typeface="Microsoft YaHei"/>
              </a:rPr>
              <a:t>• 首次生成后保存</a:t>
            </a:r>
          </a:p>
        </p:txBody>
      </p:sp>
      <p:sp>
        <p:nvSpPr>
          <p:cNvPr id="20" name="Shape 20"/>
          <p:cNvSpPr txBox="1"/>
          <p:nvPr/>
        </p:nvSpPr>
        <p:spPr>
          <a:xfrm>
            <a:off x="3429000" y="1143000"/>
            <a:ext cx="2514600" cy="416052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5E7EB"/>
            </a:solidFill>
          </a:ln>
        </p:spPr>
        <p:txBody>
          <a:bodyPr wrap="square" lIns="91440" tIns="45720" rIns="91440" bIns="45720"/>
          <a:lstStyle/>
          <a:p>
            <a:pPr algn="l">
              <a:lnSpc>
                <a:spcPct val="110000"/>
              </a:lnSpc>
            </a:pPr>
            <a:r>
              <a:rPr lang="zh-CN" sz="1400">
                <a:solidFill>
                  <a:srgbClr val="1F2937"/>
                </a:solidFill>
                <a:latin typeface="Microsoft YaHei"/>
                <a:ea typeface="Microsoft YaHei"/>
              </a:rPr>
              <a:t>论文鉴真</a:t>
            </a:r>
          </a:p>
          <a:p>
            <a:pPr algn="l">
              <a:lnSpc>
                <a:spcPct val="110000"/>
              </a:lnSpc>
            </a:pPr>
            <a:r>
              <a:rPr lang="zh-CN" sz="1400">
                <a:solidFill>
                  <a:srgbClr val="1F2937"/>
                </a:solidFill>
                <a:latin typeface="Microsoft YaHei"/>
                <a:ea typeface="Microsoft YaHei"/>
              </a:rPr>
              <a:t/>
            </a:r>
          </a:p>
          <a:p>
            <a:pPr algn="l">
              <a:lnSpc>
                <a:spcPct val="110000"/>
              </a:lnSpc>
            </a:pPr>
            <a:r>
              <a:rPr lang="zh-CN" sz="1400">
                <a:solidFill>
                  <a:srgbClr val="1F2937"/>
                </a:solidFill>
                <a:latin typeface="Microsoft YaHei"/>
                <a:ea typeface="Microsoft YaHei"/>
              </a:rPr>
              <a:t>• 数据与统计</a:t>
            </a:r>
          </a:p>
          <a:p>
            <a:pPr algn="l">
              <a:lnSpc>
                <a:spcPct val="110000"/>
              </a:lnSpc>
            </a:pPr>
            <a:r>
              <a:rPr lang="zh-CN" sz="1400">
                <a:solidFill>
                  <a:srgbClr val="1F2937"/>
                </a:solidFill>
                <a:latin typeface="Microsoft YaHei"/>
                <a:ea typeface="Microsoft YaHei"/>
              </a:rPr>
              <a:t>• 逻辑一致性</a:t>
            </a:r>
          </a:p>
          <a:p>
            <a:pPr algn="l">
              <a:lnSpc>
                <a:spcPct val="110000"/>
              </a:lnSpc>
            </a:pPr>
            <a:r>
              <a:rPr lang="zh-CN" sz="1400">
                <a:solidFill>
                  <a:srgbClr val="1F2937"/>
                </a:solidFill>
                <a:latin typeface="Microsoft YaHei"/>
                <a:ea typeface="Microsoft YaHei"/>
              </a:rPr>
              <a:t>• 外部可信度</a:t>
            </a:r>
          </a:p>
          <a:p>
            <a:pPr algn="l">
              <a:lnSpc>
                <a:spcPct val="110000"/>
              </a:lnSpc>
            </a:pPr>
            <a:r>
              <a:rPr lang="zh-CN" sz="1400">
                <a:solidFill>
                  <a:srgbClr val="1F2937"/>
                </a:solidFill>
                <a:latin typeface="Microsoft YaHei"/>
                <a:ea typeface="Microsoft YaHei"/>
              </a:rPr>
              <a:t>• 复现性</a:t>
            </a:r>
          </a:p>
          <a:p>
            <a:pPr algn="l">
              <a:lnSpc>
                <a:spcPct val="110000"/>
              </a:lnSpc>
            </a:pPr>
            <a:r>
              <a:rPr lang="zh-CN" sz="1400">
                <a:solidFill>
                  <a:srgbClr val="1F2937"/>
                </a:solidFill>
                <a:latin typeface="Microsoft YaHei"/>
                <a:ea typeface="Microsoft YaHei"/>
              </a:rPr>
              <a:t>• 图表一致性</a:t>
            </a:r>
          </a:p>
          <a:p>
            <a:pPr algn="l">
              <a:lnSpc>
                <a:spcPct val="110000"/>
              </a:lnSpc>
            </a:pPr>
            <a:r>
              <a:rPr lang="zh-CN" sz="1400">
                <a:solidFill>
                  <a:srgbClr val="1F2937"/>
                </a:solidFill>
                <a:latin typeface="Microsoft YaHei"/>
                <a:ea typeface="Microsoft YaHei"/>
              </a:rPr>
              <a:t>• 引用操纵</a:t>
            </a:r>
          </a:p>
          <a:p>
            <a:pPr algn="l">
              <a:lnSpc>
                <a:spcPct val="110000"/>
              </a:lnSpc>
            </a:pPr>
            <a:r>
              <a:rPr lang="zh-CN" sz="1400">
                <a:solidFill>
                  <a:srgbClr val="1F2937"/>
                </a:solidFill>
                <a:latin typeface="Microsoft YaHei"/>
                <a:ea typeface="Microsoft YaHei"/>
              </a:rPr>
              <a:t>• 综合风险评估置顶</a:t>
            </a:r>
          </a:p>
        </p:txBody>
      </p:sp>
      <p:sp>
        <p:nvSpPr>
          <p:cNvPr id="30" name="Shape 30"/>
          <p:cNvSpPr txBox="1"/>
          <p:nvPr/>
        </p:nvSpPr>
        <p:spPr>
          <a:xfrm>
            <a:off x="6172200" y="1143000"/>
            <a:ext cx="2057400" cy="4160520"/>
          </a:xfrm>
          <a:prstGeom prst="roundRect">
            <a:avLst/>
          </a:prstGeom>
          <a:solidFill>
            <a:srgbClr val="EAF2FF"/>
          </a:solidFill>
          <a:ln w="12700">
            <a:solidFill>
              <a:srgbClr val="BBD6FF"/>
            </a:solidFill>
          </a:ln>
        </p:spPr>
        <p:txBody>
          <a:bodyPr wrap="square" lIns="91440" tIns="45720" rIns="91440" bIns="45720"/>
          <a:lstStyle/>
          <a:p>
            <a:pPr algn="l">
              <a:lnSpc>
                <a:spcPct val="110000"/>
              </a:lnSpc>
            </a:pPr>
            <a:r>
              <a:rPr lang="zh-CN" sz="1400" b="1">
                <a:solidFill>
                  <a:srgbClr val="1F2937"/>
                </a:solidFill>
                <a:latin typeface="Microsoft YaHei"/>
                <a:ea typeface="Microsoft YaHei"/>
              </a:rPr>
              <a:t>列表状态</a:t>
            </a:r>
          </a:p>
          <a:p>
            <a:pPr algn="l">
              <a:lnSpc>
                <a:spcPct val="110000"/>
              </a:lnSpc>
            </a:pPr>
            <a:r>
              <a:rPr lang="zh-CN" sz="1400" b="1">
                <a:solidFill>
                  <a:srgbClr val="1F2937"/>
                </a:solidFill>
                <a:latin typeface="Microsoft YaHei"/>
                <a:ea typeface="Microsoft YaHei"/>
              </a:rPr>
              <a:t/>
            </a:r>
          </a:p>
          <a:p>
            <a:pPr algn="l">
              <a:lnSpc>
                <a:spcPct val="110000"/>
              </a:lnSpc>
            </a:pPr>
            <a:r>
              <a:rPr lang="zh-CN" sz="1400" b="1">
                <a:solidFill>
                  <a:srgbClr val="1F2937"/>
                </a:solidFill>
                <a:latin typeface="Microsoft YaHei"/>
                <a:ea typeface="Microsoft YaHei"/>
              </a:rPr>
              <a:t>• 完成后绿色图标</a:t>
            </a:r>
          </a:p>
          <a:p>
            <a:pPr algn="l">
              <a:lnSpc>
                <a:spcPct val="110000"/>
              </a:lnSpc>
            </a:pPr>
            <a:r>
              <a:rPr lang="zh-CN" sz="1400" b="1">
                <a:solidFill>
                  <a:srgbClr val="1F2937"/>
                </a:solidFill>
                <a:latin typeface="Microsoft YaHei"/>
                <a:ea typeface="Microsoft YaHei"/>
              </a:rPr>
              <a:t>• 未完成显示生成中</a:t>
            </a:r>
          </a:p>
          <a:p>
            <a:pPr algn="l">
              <a:lnSpc>
                <a:spcPct val="110000"/>
              </a:lnSpc>
            </a:pPr>
            <a:r>
              <a:rPr lang="zh-CN" sz="1400" b="1">
                <a:solidFill>
                  <a:srgbClr val="1F2937"/>
                </a:solidFill>
                <a:latin typeface="Microsoft YaHei"/>
                <a:ea typeface="Microsoft YaHei"/>
              </a:rPr>
              <a:t>• 排名前列优先分析</a:t>
            </a:r>
          </a:p>
          <a:p>
            <a:pPr algn="l">
              <a:lnSpc>
                <a:spcPct val="110000"/>
              </a:lnSpc>
            </a:pPr>
            <a:r>
              <a:rPr lang="zh-CN" sz="1400" b="1">
                <a:solidFill>
                  <a:srgbClr val="1F2937"/>
                </a:solidFill>
                <a:latin typeface="Microsoft YaHei"/>
                <a:ea typeface="Microsoft YaHei"/>
              </a:rPr>
              <a:t>• 点击直接查看完整结果</a:t>
            </a:r>
          </a:p>
        </p:txBody>
      </p:sp>
      <p:sp>
        <p:nvSpPr>
          <p:cNvPr id="40" name="Shape 40"/>
          <p:cNvSpPr txBox="1"/>
          <p:nvPr/>
        </p:nvSpPr>
        <p:spPr>
          <a:xfrm>
            <a:off x="8458200" y="1143000"/>
            <a:ext cx="2057400" cy="4160520"/>
          </a:xfrm>
          <a:prstGeom prst="roundRect">
            <a:avLst/>
          </a:prstGeom>
          <a:solidFill>
            <a:srgbClr val="ECFDF5"/>
          </a:solidFill>
          <a:ln w="12700">
            <a:solidFill>
              <a:srgbClr val="A7F3D0"/>
            </a:solidFill>
          </a:ln>
        </p:spPr>
        <p:txBody>
          <a:bodyPr wrap="square" lIns="91440" tIns="45720" rIns="91440" bIns="45720"/>
          <a:lstStyle/>
          <a:p>
            <a:pPr algn="ctr">
              <a:lnSpc>
                <a:spcPct val="110000"/>
              </a:lnSpc>
            </a:pPr>
            <a:r>
              <a:rPr lang="zh-CN" sz="1600" b="1">
                <a:solidFill>
                  <a:srgbClr val="1F2937"/>
                </a:solidFill>
                <a:latin typeface="Microsoft YaHei"/>
                <a:ea typeface="Microsoft YaHei"/>
              </a:rPr>
              <a:t>核心价值</a:t>
            </a:r>
          </a:p>
          <a:p>
            <a:pPr algn="ctr">
              <a:lnSpc>
                <a:spcPct val="110000"/>
              </a:lnSpc>
            </a:pPr>
            <a:r>
              <a:rPr lang="zh-CN" sz="1600" b="1">
                <a:solidFill>
                  <a:srgbClr val="1F2937"/>
                </a:solidFill>
                <a:latin typeface="Microsoft YaHei"/>
                <a:ea typeface="Microsoft YaHei"/>
              </a:rPr>
              <a:t/>
            </a:r>
          </a:p>
          <a:p>
            <a:pPr algn="ctr">
              <a:lnSpc>
                <a:spcPct val="110000"/>
              </a:lnSpc>
            </a:pPr>
            <a:r>
              <a:rPr lang="zh-CN" sz="1600" b="1">
                <a:solidFill>
                  <a:srgbClr val="1F2937"/>
                </a:solidFill>
                <a:latin typeface="Microsoft YaHei"/>
                <a:ea typeface="Microsoft YaHei"/>
              </a:rPr>
              <a:t>减少误读</a:t>
            </a:r>
          </a:p>
          <a:p>
            <a:pPr algn="ctr">
              <a:lnSpc>
                <a:spcPct val="110000"/>
              </a:lnSpc>
            </a:pPr>
            <a:r>
              <a:rPr lang="zh-CN" sz="1600" b="1">
                <a:solidFill>
                  <a:srgbClr val="1F2937"/>
                </a:solidFill>
                <a:latin typeface="Microsoft YaHei"/>
                <a:ea typeface="Microsoft YaHei"/>
              </a:rPr>
              <a:t>减少无效引用</a:t>
            </a:r>
          </a:p>
          <a:p>
            <a:pPr algn="ctr">
              <a:lnSpc>
                <a:spcPct val="110000"/>
              </a:lnSpc>
            </a:pPr>
            <a:r>
              <a:rPr lang="zh-CN" sz="1600" b="1">
                <a:solidFill>
                  <a:srgbClr val="1F2937"/>
                </a:solidFill>
                <a:latin typeface="Microsoft YaHei"/>
                <a:ea typeface="Microsoft YaHei"/>
              </a:rPr>
              <a:t>优先阅读低风险高价值论文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7F9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00" name="Shape 900"/>
          <p:cNvSpPr txBox="1"/>
          <p:nvPr/>
        </p:nvSpPr>
        <p:spPr>
          <a:xfrm>
            <a:off x="411480" y="256032"/>
            <a:ext cx="164592" cy="411480"/>
          </a:xfrm>
          <a:prstGeom prst="rect">
            <a:avLst/>
          </a:prstGeom>
          <a:solidFill>
            <a:srgbClr val="1677FF"/>
          </a:solidFill>
          <a:ln>
            <a:noFill/>
          </a:ln>
        </p:spPr>
        <p:txBody>
          <a:bodyPr/>
          <a:lstStyle/>
          <a:p/>
        </p:txBody>
      </p:sp>
      <p:sp>
        <p:nvSpPr>
          <p:cNvPr id="901" name="Shape 901"/>
          <p:cNvSpPr txBox="1"/>
          <p:nvPr/>
        </p:nvSpPr>
        <p:spPr>
          <a:xfrm>
            <a:off x="658368" y="201168"/>
            <a:ext cx="8046720" cy="411480"/>
          </a:xfrm>
          <a:prstGeom prst="roundRect">
            <a:avLst/>
          </a:prstGeom>
          <a:noFill/>
          <a:ln>
            <a:noFill/>
          </a:ln>
        </p:spPr>
        <p:txBody>
          <a:bodyPr wrap="square" lIns="91440" tIns="45720" rIns="91440" bIns="45720"/>
          <a:lstStyle/>
          <a:p>
            <a:pPr algn="l">
              <a:lnSpc>
                <a:spcPct val="110000"/>
              </a:lnSpc>
            </a:pPr>
            <a:r>
              <a:rPr lang="zh-CN" sz="2500" b="1">
                <a:solidFill>
                  <a:srgbClr val="111827"/>
                </a:solidFill>
                <a:latin typeface="Microsoft YaHei"/>
                <a:ea typeface="Microsoft YaHei"/>
              </a:rPr>
              <a:t>核心能力四：研究设计助手</a:t>
            </a:r>
          </a:p>
        </p:txBody>
      </p:sp>
      <p:sp>
        <p:nvSpPr>
          <p:cNvPr id="902" name="Shape 902"/>
          <p:cNvSpPr txBox="1"/>
          <p:nvPr/>
        </p:nvSpPr>
        <p:spPr>
          <a:xfrm>
            <a:off x="658368" y="621792"/>
            <a:ext cx="9601200" cy="320040"/>
          </a:xfrm>
          <a:prstGeom prst="roundRect">
            <a:avLst/>
          </a:prstGeom>
          <a:noFill/>
          <a:ln>
            <a:noFill/>
          </a:ln>
        </p:spPr>
        <p:txBody>
          <a:bodyPr wrap="square" lIns="91440" tIns="45720" rIns="91440" bIns="45720"/>
          <a:lstStyle/>
          <a:p>
            <a:pPr algn="l">
              <a:lnSpc>
                <a:spcPct val="110000"/>
              </a:lnSpc>
            </a:pPr>
            <a:r>
              <a:rPr lang="zh-CN" sz="1100">
                <a:solidFill>
                  <a:srgbClr val="6B7280"/>
                </a:solidFill>
                <a:latin typeface="Microsoft YaHei"/>
                <a:ea typeface="Microsoft YaHei"/>
              </a:rPr>
              <a:t>AI 把临床问题转化为可执行、可讨论、可落地的科研方案</a:t>
            </a:r>
          </a:p>
        </p:txBody>
      </p:sp>
      <p:sp>
        <p:nvSpPr>
          <p:cNvPr id="10" name="Shape 10"/>
          <p:cNvSpPr txBox="1"/>
          <p:nvPr/>
        </p:nvSpPr>
        <p:spPr>
          <a:xfrm>
            <a:off x="731520" y="1005840"/>
            <a:ext cx="2011680" cy="914400"/>
          </a:xfrm>
          <a:prstGeom prst="roundRect">
            <a:avLst/>
          </a:prstGeom>
          <a:solidFill>
            <a:srgbClr val="EAF2FF"/>
          </a:solidFill>
          <a:ln w="12700">
            <a:solidFill>
              <a:srgbClr val="BBD6FF"/>
            </a:solidFill>
          </a:ln>
        </p:spPr>
        <p:txBody>
          <a:bodyPr wrap="square" lIns="91440" tIns="45720" rIns="91440" bIns="45720"/>
          <a:lstStyle/>
          <a:p>
            <a:pPr algn="ctr">
              <a:lnSpc>
                <a:spcPct val="110000"/>
              </a:lnSpc>
            </a:pPr>
            <a:r>
              <a:rPr lang="zh-CN" sz="1400" b="1">
                <a:solidFill>
                  <a:srgbClr val="1F2937"/>
                </a:solidFill>
                <a:latin typeface="Microsoft YaHei"/>
                <a:ea typeface="Microsoft YaHei"/>
              </a:rPr>
              <a:t>医生输入</a:t>
            </a:r>
          </a:p>
          <a:p>
            <a:pPr algn="ctr">
              <a:lnSpc>
                <a:spcPct val="110000"/>
              </a:lnSpc>
            </a:pPr>
            <a:r>
              <a:rPr lang="zh-CN" sz="1400" b="1">
                <a:solidFill>
                  <a:srgbClr val="1F2937"/>
                </a:solidFill>
                <a:latin typeface="Microsoft YaHei"/>
                <a:ea typeface="Microsoft YaHei"/>
              </a:rPr>
              <a:t>临床问题/病例资源</a:t>
            </a:r>
          </a:p>
        </p:txBody>
      </p:sp>
      <p:sp>
        <p:nvSpPr>
          <p:cNvPr id="11" name="Shape 11"/>
          <p:cNvSpPr txBox="1"/>
          <p:nvPr/>
        </p:nvSpPr>
        <p:spPr>
          <a:xfrm>
            <a:off x="2926080" y="1005840"/>
            <a:ext cx="2011680" cy="914400"/>
          </a:xfrm>
          <a:prstGeom prst="roundRect">
            <a:avLst/>
          </a:prstGeom>
          <a:solidFill>
            <a:srgbClr val="ECFDF5"/>
          </a:solidFill>
          <a:ln w="12700">
            <a:solidFill>
              <a:srgbClr val="A7F3D0"/>
            </a:solidFill>
          </a:ln>
        </p:spPr>
        <p:txBody>
          <a:bodyPr wrap="square" lIns="91440" tIns="45720" rIns="91440" bIns="45720"/>
          <a:lstStyle/>
          <a:p>
            <a:pPr algn="ctr">
              <a:lnSpc>
                <a:spcPct val="110000"/>
              </a:lnSpc>
            </a:pPr>
            <a:r>
              <a:rPr lang="zh-CN" sz="1400" b="1">
                <a:solidFill>
                  <a:srgbClr val="1F2937"/>
                </a:solidFill>
                <a:latin typeface="Microsoft YaHei"/>
                <a:ea typeface="Microsoft YaHei"/>
              </a:rPr>
              <a:t>AI 生成</a:t>
            </a:r>
          </a:p>
          <a:p>
            <a:pPr algn="ctr">
              <a:lnSpc>
                <a:spcPct val="110000"/>
              </a:lnSpc>
            </a:pPr>
            <a:r>
              <a:rPr lang="zh-CN" sz="1400" b="1">
                <a:solidFill>
                  <a:srgbClr val="1F2937"/>
                </a:solidFill>
                <a:latin typeface="Microsoft YaHei"/>
                <a:ea typeface="Microsoft YaHei"/>
              </a:rPr>
              <a:t>PICO/变量/终点</a:t>
            </a:r>
          </a:p>
        </p:txBody>
      </p:sp>
      <p:sp>
        <p:nvSpPr>
          <p:cNvPr id="12" name="Shape 12"/>
          <p:cNvSpPr txBox="1"/>
          <p:nvPr/>
        </p:nvSpPr>
        <p:spPr>
          <a:xfrm>
            <a:off x="5120640" y="1005840"/>
            <a:ext cx="2011680" cy="914400"/>
          </a:xfrm>
          <a:prstGeom prst="roundRect">
            <a:avLst/>
          </a:prstGeom>
          <a:solidFill>
            <a:srgbClr val="FFF7ED"/>
          </a:solidFill>
          <a:ln w="12700">
            <a:solidFill>
              <a:srgbClr val="FED7AA"/>
            </a:solidFill>
          </a:ln>
        </p:spPr>
        <p:txBody>
          <a:bodyPr wrap="square" lIns="91440" tIns="45720" rIns="91440" bIns="45720"/>
          <a:lstStyle/>
          <a:p>
            <a:pPr algn="ctr">
              <a:lnSpc>
                <a:spcPct val="110000"/>
              </a:lnSpc>
            </a:pPr>
            <a:r>
              <a:rPr lang="zh-CN" sz="1400" b="1">
                <a:solidFill>
                  <a:srgbClr val="1F2937"/>
                </a:solidFill>
                <a:latin typeface="Microsoft YaHei"/>
                <a:ea typeface="Microsoft YaHei"/>
              </a:rPr>
              <a:t>系统匹配</a:t>
            </a:r>
          </a:p>
          <a:p>
            <a:pPr algn="ctr">
              <a:lnSpc>
                <a:spcPct val="110000"/>
              </a:lnSpc>
            </a:pPr>
            <a:r>
              <a:rPr lang="zh-CN" sz="1400" b="1">
                <a:solidFill>
                  <a:srgbClr val="1F2937"/>
                </a:solidFill>
                <a:latin typeface="Microsoft YaHei"/>
                <a:ea typeface="Microsoft YaHei"/>
              </a:rPr>
              <a:t>文献证据/类似研究</a:t>
            </a:r>
          </a:p>
        </p:txBody>
      </p:sp>
      <p:sp>
        <p:nvSpPr>
          <p:cNvPr id="13" name="Shape 13"/>
          <p:cNvSpPr txBox="1"/>
          <p:nvPr/>
        </p:nvSpPr>
        <p:spPr>
          <a:xfrm>
            <a:off x="7315200" y="1005840"/>
            <a:ext cx="2011680" cy="914400"/>
          </a:xfrm>
          <a:prstGeom prst="roundRect">
            <a:avLst/>
          </a:prstGeom>
          <a:solidFill>
            <a:srgbClr val="F5F3FF"/>
          </a:solidFill>
          <a:ln w="12700">
            <a:solidFill>
              <a:srgbClr val="DDD6FE"/>
            </a:solidFill>
          </a:ln>
        </p:spPr>
        <p:txBody>
          <a:bodyPr wrap="square" lIns="91440" tIns="45720" rIns="91440" bIns="45720"/>
          <a:lstStyle/>
          <a:p>
            <a:pPr algn="ctr">
              <a:lnSpc>
                <a:spcPct val="110000"/>
              </a:lnSpc>
            </a:pPr>
            <a:r>
              <a:rPr lang="zh-CN" sz="1400" b="1">
                <a:solidFill>
                  <a:srgbClr val="1F2937"/>
                </a:solidFill>
                <a:latin typeface="Microsoft YaHei"/>
                <a:ea typeface="Microsoft YaHei"/>
              </a:rPr>
              <a:t>形成材料</a:t>
            </a:r>
          </a:p>
          <a:p>
            <a:pPr algn="ctr">
              <a:lnSpc>
                <a:spcPct val="110000"/>
              </a:lnSpc>
            </a:pPr>
            <a:r>
              <a:rPr lang="zh-CN" sz="1400" b="1">
                <a:solidFill>
                  <a:srgbClr val="1F2937"/>
                </a:solidFill>
                <a:latin typeface="Microsoft YaHei"/>
                <a:ea typeface="Microsoft YaHei"/>
              </a:rPr>
              <a:t>方案/CRF/SAP</a:t>
            </a:r>
          </a:p>
        </p:txBody>
      </p:sp>
      <p:sp>
        <p:nvSpPr>
          <p:cNvPr id="20" name="Shape 20"/>
          <p:cNvSpPr txBox="1"/>
          <p:nvPr/>
        </p:nvSpPr>
        <p:spPr>
          <a:xfrm>
            <a:off x="914400" y="2743200"/>
            <a:ext cx="4480560" cy="237744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5E7EB"/>
            </a:solidFill>
          </a:ln>
        </p:spPr>
        <p:txBody>
          <a:bodyPr wrap="square" lIns="91440" tIns="45720" rIns="91440" bIns="45720"/>
          <a:lstStyle/>
          <a:p>
            <a:pPr algn="l">
              <a:lnSpc>
                <a:spcPct val="110000"/>
              </a:lnSpc>
            </a:pPr>
            <a:r>
              <a:rPr lang="zh-CN" sz="1500">
                <a:solidFill>
                  <a:srgbClr val="1F2937"/>
                </a:solidFill>
                <a:latin typeface="Microsoft YaHei"/>
                <a:ea typeface="Microsoft YaHei"/>
              </a:rPr>
              <a:t>可输出内容</a:t>
            </a:r>
          </a:p>
          <a:p>
            <a:pPr algn="l">
              <a:lnSpc>
                <a:spcPct val="110000"/>
              </a:lnSpc>
            </a:pPr>
            <a:r>
              <a:rPr lang="zh-CN" sz="1500">
                <a:solidFill>
                  <a:srgbClr val="1F2937"/>
                </a:solidFill>
                <a:latin typeface="Microsoft YaHei"/>
                <a:ea typeface="Microsoft YaHei"/>
              </a:rPr>
              <a:t/>
            </a:r>
          </a:p>
          <a:p>
            <a:pPr algn="l">
              <a:lnSpc>
                <a:spcPct val="110000"/>
              </a:lnSpc>
            </a:pPr>
            <a:r>
              <a:rPr lang="zh-CN" sz="1500">
                <a:solidFill>
                  <a:srgbClr val="1F2937"/>
                </a:solidFill>
                <a:latin typeface="Microsoft YaHei"/>
                <a:ea typeface="Microsoft YaHei"/>
              </a:rPr>
              <a:t>• 研究题目建议</a:t>
            </a:r>
          </a:p>
          <a:p>
            <a:pPr algn="l">
              <a:lnSpc>
                <a:spcPct val="110000"/>
              </a:lnSpc>
            </a:pPr>
            <a:r>
              <a:rPr lang="zh-CN" sz="1500">
                <a:solidFill>
                  <a:srgbClr val="1F2937"/>
                </a:solidFill>
                <a:latin typeface="Microsoft YaHei"/>
                <a:ea typeface="Microsoft YaHei"/>
              </a:rPr>
              <a:t>• 纳入/排除标准</a:t>
            </a:r>
          </a:p>
          <a:p>
            <a:pPr algn="l">
              <a:lnSpc>
                <a:spcPct val="110000"/>
              </a:lnSpc>
            </a:pPr>
            <a:r>
              <a:rPr lang="zh-CN" sz="1500">
                <a:solidFill>
                  <a:srgbClr val="1F2937"/>
                </a:solidFill>
                <a:latin typeface="Microsoft YaHei"/>
                <a:ea typeface="Microsoft YaHei"/>
              </a:rPr>
              <a:t>• 变量表和数据字典</a:t>
            </a:r>
          </a:p>
          <a:p>
            <a:pPr algn="l">
              <a:lnSpc>
                <a:spcPct val="110000"/>
              </a:lnSpc>
            </a:pPr>
            <a:r>
              <a:rPr lang="zh-CN" sz="1500">
                <a:solidFill>
                  <a:srgbClr val="1F2937"/>
                </a:solidFill>
                <a:latin typeface="Microsoft YaHei"/>
                <a:ea typeface="Microsoft YaHei"/>
              </a:rPr>
              <a:t>• 统计分析计划</a:t>
            </a:r>
          </a:p>
          <a:p>
            <a:pPr algn="l">
              <a:lnSpc>
                <a:spcPct val="110000"/>
              </a:lnSpc>
            </a:pPr>
            <a:r>
              <a:rPr lang="zh-CN" sz="1500">
                <a:solidFill>
                  <a:srgbClr val="1F2937"/>
                </a:solidFill>
                <a:latin typeface="Microsoft YaHei"/>
                <a:ea typeface="Microsoft YaHei"/>
              </a:rPr>
              <a:t>• 伦理材料草稿</a:t>
            </a:r>
          </a:p>
        </p:txBody>
      </p:sp>
      <p:sp>
        <p:nvSpPr>
          <p:cNvPr id="30" name="Shape 30"/>
          <p:cNvSpPr txBox="1"/>
          <p:nvPr/>
        </p:nvSpPr>
        <p:spPr>
          <a:xfrm>
            <a:off x="5852160" y="2743200"/>
            <a:ext cx="4480560" cy="237744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5E7EB"/>
            </a:solidFill>
          </a:ln>
        </p:spPr>
        <p:txBody>
          <a:bodyPr wrap="square" lIns="91440" tIns="45720" rIns="91440" bIns="45720"/>
          <a:lstStyle/>
          <a:p>
            <a:pPr algn="l">
              <a:lnSpc>
                <a:spcPct val="110000"/>
              </a:lnSpc>
            </a:pPr>
            <a:r>
              <a:rPr lang="zh-CN" sz="1500">
                <a:solidFill>
                  <a:srgbClr val="1F2937"/>
                </a:solidFill>
                <a:latin typeface="Microsoft YaHei"/>
                <a:ea typeface="Microsoft YaHei"/>
              </a:rPr>
              <a:t>核心价值</a:t>
            </a:r>
          </a:p>
          <a:p>
            <a:pPr algn="l">
              <a:lnSpc>
                <a:spcPct val="110000"/>
              </a:lnSpc>
            </a:pPr>
            <a:r>
              <a:rPr lang="zh-CN" sz="1500">
                <a:solidFill>
                  <a:srgbClr val="1F2937"/>
                </a:solidFill>
                <a:latin typeface="Microsoft YaHei"/>
                <a:ea typeface="Microsoft YaHei"/>
              </a:rPr>
              <a:t/>
            </a:r>
          </a:p>
          <a:p>
            <a:pPr algn="l">
              <a:lnSpc>
                <a:spcPct val="110000"/>
              </a:lnSpc>
            </a:pPr>
            <a:r>
              <a:rPr lang="zh-CN" sz="1500">
                <a:solidFill>
                  <a:srgbClr val="1F2937"/>
                </a:solidFill>
                <a:latin typeface="Microsoft YaHei"/>
                <a:ea typeface="Microsoft YaHei"/>
              </a:rPr>
              <a:t>• 降低科研入门门槛</a:t>
            </a:r>
          </a:p>
          <a:p>
            <a:pPr algn="l">
              <a:lnSpc>
                <a:spcPct val="110000"/>
              </a:lnSpc>
            </a:pPr>
            <a:r>
              <a:rPr lang="zh-CN" sz="1500">
                <a:solidFill>
                  <a:srgbClr val="1F2937"/>
                </a:solidFill>
                <a:latin typeface="Microsoft YaHei"/>
                <a:ea typeface="Microsoft YaHei"/>
              </a:rPr>
              <a:t>• 提高选题质量</a:t>
            </a:r>
          </a:p>
          <a:p>
            <a:pPr algn="l">
              <a:lnSpc>
                <a:spcPct val="110000"/>
              </a:lnSpc>
            </a:pPr>
            <a:r>
              <a:rPr lang="zh-CN" sz="1500">
                <a:solidFill>
                  <a:srgbClr val="1F2937"/>
                </a:solidFill>
                <a:latin typeface="Microsoft YaHei"/>
                <a:ea typeface="Microsoft YaHei"/>
              </a:rPr>
              <a:t>• 让临床资源变成研究资产</a:t>
            </a:r>
          </a:p>
          <a:p>
            <a:pPr algn="l">
              <a:lnSpc>
                <a:spcPct val="110000"/>
              </a:lnSpc>
            </a:pPr>
            <a:r>
              <a:rPr lang="zh-CN" sz="1500">
                <a:solidFill>
                  <a:srgbClr val="1F2937"/>
                </a:solidFill>
                <a:latin typeface="Microsoft YaHei"/>
                <a:ea typeface="Microsoft YaHei"/>
              </a:rPr>
              <a:t>• 方便科室内部协作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7F9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00" name="Shape 900"/>
          <p:cNvSpPr txBox="1"/>
          <p:nvPr/>
        </p:nvSpPr>
        <p:spPr>
          <a:xfrm>
            <a:off x="411480" y="256032"/>
            <a:ext cx="164592" cy="411480"/>
          </a:xfrm>
          <a:prstGeom prst="rect">
            <a:avLst/>
          </a:prstGeom>
          <a:solidFill>
            <a:srgbClr val="1677FF"/>
          </a:solidFill>
          <a:ln>
            <a:noFill/>
          </a:ln>
        </p:spPr>
        <p:txBody>
          <a:bodyPr/>
          <a:lstStyle/>
          <a:p/>
        </p:txBody>
      </p:sp>
      <p:sp>
        <p:nvSpPr>
          <p:cNvPr id="901" name="Shape 901"/>
          <p:cNvSpPr txBox="1"/>
          <p:nvPr/>
        </p:nvSpPr>
        <p:spPr>
          <a:xfrm>
            <a:off x="658368" y="201168"/>
            <a:ext cx="8046720" cy="411480"/>
          </a:xfrm>
          <a:prstGeom prst="roundRect">
            <a:avLst/>
          </a:prstGeom>
          <a:noFill/>
          <a:ln>
            <a:noFill/>
          </a:ln>
        </p:spPr>
        <p:txBody>
          <a:bodyPr wrap="square" lIns="91440" tIns="45720" rIns="91440" bIns="45720"/>
          <a:lstStyle/>
          <a:p>
            <a:pPr algn="l">
              <a:lnSpc>
                <a:spcPct val="110000"/>
              </a:lnSpc>
            </a:pPr>
            <a:r>
              <a:rPr lang="zh-CN" sz="2500" b="1">
                <a:solidFill>
                  <a:srgbClr val="111827"/>
                </a:solidFill>
                <a:latin typeface="Microsoft YaHei"/>
                <a:ea typeface="Microsoft YaHei"/>
              </a:rPr>
              <a:t>核心能力五：论文写作协作</a:t>
            </a:r>
          </a:p>
        </p:txBody>
      </p:sp>
      <p:sp>
        <p:nvSpPr>
          <p:cNvPr id="902" name="Shape 902"/>
          <p:cNvSpPr txBox="1"/>
          <p:nvPr/>
        </p:nvSpPr>
        <p:spPr>
          <a:xfrm>
            <a:off x="658368" y="621792"/>
            <a:ext cx="9601200" cy="320040"/>
          </a:xfrm>
          <a:prstGeom prst="roundRect">
            <a:avLst/>
          </a:prstGeom>
          <a:noFill/>
          <a:ln>
            <a:noFill/>
          </a:ln>
        </p:spPr>
        <p:txBody>
          <a:bodyPr wrap="square" lIns="91440" tIns="45720" rIns="91440" bIns="45720"/>
          <a:lstStyle/>
          <a:p>
            <a:pPr algn="l">
              <a:lnSpc>
                <a:spcPct val="110000"/>
              </a:lnSpc>
            </a:pPr>
            <a:r>
              <a:rPr lang="zh-CN" sz="1100">
                <a:solidFill>
                  <a:srgbClr val="6B7280"/>
                </a:solidFill>
                <a:latin typeface="Microsoft YaHei"/>
                <a:ea typeface="Microsoft YaHei"/>
              </a:rPr>
              <a:t>AI 给灵感和素材，医生掌控正式草稿</a:t>
            </a:r>
          </a:p>
        </p:txBody>
      </p:sp>
      <p:sp>
        <p:nvSpPr>
          <p:cNvPr id="10" name="Shape 10"/>
          <p:cNvSpPr txBox="1"/>
          <p:nvPr/>
        </p:nvSpPr>
        <p:spPr>
          <a:xfrm>
            <a:off x="777240" y="1143000"/>
            <a:ext cx="4754880" cy="429768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1D5DB"/>
            </a:solidFill>
          </a:ln>
        </p:spPr>
        <p:txBody>
          <a:bodyPr wrap="square" lIns="91440" tIns="45720" rIns="91440" bIns="45720"/>
          <a:lstStyle/>
          <a:p>
            <a:pPr algn="l">
              <a:lnSpc>
                <a:spcPct val="110000"/>
              </a:lnSpc>
            </a:pPr>
            <a:r>
              <a:rPr lang="zh-CN" sz="1500">
                <a:solidFill>
                  <a:srgbClr val="1F2937"/>
                </a:solidFill>
                <a:latin typeface="Microsoft YaHei"/>
                <a:ea typeface="Microsoft YaHei"/>
              </a:rPr>
              <a:t>左侧：AI 研究对话</a:t>
            </a:r>
          </a:p>
          <a:p>
            <a:pPr algn="l">
              <a:lnSpc>
                <a:spcPct val="110000"/>
              </a:lnSpc>
            </a:pPr>
            <a:r>
              <a:rPr lang="zh-CN" sz="1500">
                <a:solidFill>
                  <a:srgbClr val="1F2937"/>
                </a:solidFill>
                <a:latin typeface="Microsoft YaHei"/>
                <a:ea typeface="Microsoft YaHei"/>
              </a:rPr>
              <a:t/>
            </a:r>
          </a:p>
          <a:p>
            <a:pPr algn="l">
              <a:lnSpc>
                <a:spcPct val="110000"/>
              </a:lnSpc>
            </a:pPr>
            <a:r>
              <a:rPr lang="zh-CN" sz="1500">
                <a:solidFill>
                  <a:srgbClr val="1F2937"/>
                </a:solidFill>
                <a:latin typeface="Microsoft YaHei"/>
                <a:ea typeface="Microsoft YaHei"/>
              </a:rPr>
              <a:t>• 不直接替医生生成整篇论文</a:t>
            </a:r>
          </a:p>
          <a:p>
            <a:pPr algn="l">
              <a:lnSpc>
                <a:spcPct val="110000"/>
              </a:lnSpc>
            </a:pPr>
            <a:r>
              <a:rPr lang="zh-CN" sz="1500">
                <a:solidFill>
                  <a:srgbClr val="1F2937"/>
                </a:solidFill>
                <a:latin typeface="Microsoft YaHei"/>
                <a:ea typeface="Microsoft YaHei"/>
              </a:rPr>
              <a:t>• 围绕问题分析和启发</a:t>
            </a:r>
          </a:p>
          <a:p>
            <a:pPr algn="l">
              <a:lnSpc>
                <a:spcPct val="110000"/>
              </a:lnSpc>
            </a:pPr>
            <a:r>
              <a:rPr lang="zh-CN" sz="1500">
                <a:solidFill>
                  <a:srgbClr val="1F2937"/>
                </a:solidFill>
                <a:latin typeface="Microsoft YaHei"/>
                <a:ea typeface="Microsoft YaHei"/>
              </a:rPr>
              <a:t>• 解释最新研究成果</a:t>
            </a:r>
          </a:p>
          <a:p>
            <a:pPr algn="l">
              <a:lnSpc>
                <a:spcPct val="110000"/>
              </a:lnSpc>
            </a:pPr>
            <a:r>
              <a:rPr lang="zh-CN" sz="1500">
                <a:solidFill>
                  <a:srgbClr val="1F2937"/>
                </a:solidFill>
                <a:latin typeface="Microsoft YaHei"/>
                <a:ea typeface="Microsoft YaHei"/>
              </a:rPr>
              <a:t>• 生成可写入片段</a:t>
            </a:r>
          </a:p>
          <a:p>
            <a:pPr algn="l">
              <a:lnSpc>
                <a:spcPct val="110000"/>
              </a:lnSpc>
            </a:pPr>
            <a:r>
              <a:rPr lang="zh-CN" sz="1500">
                <a:solidFill>
                  <a:srgbClr val="1F2937"/>
                </a:solidFill>
                <a:latin typeface="Microsoft YaHei"/>
                <a:ea typeface="Microsoft YaHei"/>
              </a:rPr>
              <a:t>• 对话记录保留</a:t>
            </a:r>
          </a:p>
          <a:p>
            <a:pPr algn="l">
              <a:lnSpc>
                <a:spcPct val="110000"/>
              </a:lnSpc>
            </a:pPr>
            <a:r>
              <a:rPr lang="zh-CN" sz="1500">
                <a:solidFill>
                  <a:srgbClr val="1F2937"/>
                </a:solidFill>
                <a:latin typeface="Microsoft YaHei"/>
                <a:ea typeface="Microsoft YaHei"/>
              </a:rPr>
              <a:t>• 可选中内容导入草稿</a:t>
            </a:r>
          </a:p>
        </p:txBody>
      </p:sp>
      <p:sp>
        <p:nvSpPr>
          <p:cNvPr id="20" name="Shape 20"/>
          <p:cNvSpPr txBox="1"/>
          <p:nvPr/>
        </p:nvSpPr>
        <p:spPr>
          <a:xfrm>
            <a:off x="5989320" y="1143000"/>
            <a:ext cx="4754880" cy="429768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1D5DB"/>
            </a:solidFill>
          </a:ln>
        </p:spPr>
        <p:txBody>
          <a:bodyPr wrap="square" lIns="91440" tIns="45720" rIns="91440" bIns="45720"/>
          <a:lstStyle/>
          <a:p>
            <a:pPr algn="l">
              <a:lnSpc>
                <a:spcPct val="110000"/>
              </a:lnSpc>
            </a:pPr>
            <a:r>
              <a:rPr lang="zh-CN" sz="1500">
                <a:solidFill>
                  <a:srgbClr val="1F2937"/>
                </a:solidFill>
                <a:latin typeface="Microsoft YaHei"/>
                <a:ea typeface="Microsoft YaHei"/>
              </a:rPr>
              <a:t>右侧：正式草稿</a:t>
            </a:r>
          </a:p>
          <a:p>
            <a:pPr algn="l">
              <a:lnSpc>
                <a:spcPct val="110000"/>
              </a:lnSpc>
            </a:pPr>
            <a:r>
              <a:rPr lang="zh-CN" sz="1500">
                <a:solidFill>
                  <a:srgbClr val="1F2937"/>
                </a:solidFill>
                <a:latin typeface="Microsoft YaHei"/>
                <a:ea typeface="Microsoft YaHei"/>
              </a:rPr>
              <a:t/>
            </a:r>
          </a:p>
          <a:p>
            <a:pPr algn="l">
              <a:lnSpc>
                <a:spcPct val="110000"/>
              </a:lnSpc>
            </a:pPr>
            <a:r>
              <a:rPr lang="zh-CN" sz="1500">
                <a:solidFill>
                  <a:srgbClr val="1F2937"/>
                </a:solidFill>
                <a:latin typeface="Microsoft YaHei"/>
                <a:ea typeface="Microsoft YaHei"/>
              </a:rPr>
              <a:t>• 医生直接编辑完善</a:t>
            </a:r>
          </a:p>
          <a:p>
            <a:pPr algn="l">
              <a:lnSpc>
                <a:spcPct val="110000"/>
              </a:lnSpc>
            </a:pPr>
            <a:r>
              <a:rPr lang="zh-CN" sz="1500">
                <a:solidFill>
                  <a:srgbClr val="1F2937"/>
                </a:solidFill>
                <a:latin typeface="Microsoft YaHei"/>
                <a:ea typeface="Microsoft YaHei"/>
              </a:rPr>
              <a:t>• 左右分栏可拖动</a:t>
            </a:r>
          </a:p>
          <a:p>
            <a:pPr algn="l">
              <a:lnSpc>
                <a:spcPct val="110000"/>
              </a:lnSpc>
            </a:pPr>
            <a:r>
              <a:rPr lang="zh-CN" sz="1500">
                <a:solidFill>
                  <a:srgbClr val="1F2937"/>
                </a:solidFill>
                <a:latin typeface="Microsoft YaHei"/>
                <a:ea typeface="Microsoft YaHei"/>
              </a:rPr>
              <a:t>• 实时 Markdown 预览</a:t>
            </a:r>
          </a:p>
          <a:p>
            <a:pPr algn="l">
              <a:lnSpc>
                <a:spcPct val="110000"/>
              </a:lnSpc>
            </a:pPr>
            <a:r>
              <a:rPr lang="zh-CN" sz="1500">
                <a:solidFill>
                  <a:srgbClr val="1F2937"/>
                </a:solidFill>
                <a:latin typeface="Microsoft YaHei"/>
                <a:ea typeface="Microsoft YaHei"/>
              </a:rPr>
              <a:t>• Word/PDF 导出</a:t>
            </a:r>
          </a:p>
          <a:p>
            <a:pPr algn="l">
              <a:lnSpc>
                <a:spcPct val="110000"/>
              </a:lnSpc>
            </a:pPr>
            <a:r>
              <a:rPr lang="zh-CN" sz="1500">
                <a:solidFill>
                  <a:srgbClr val="1F2937"/>
                </a:solidFill>
                <a:latin typeface="Microsoft YaHei"/>
                <a:ea typeface="Microsoft YaHei"/>
              </a:rPr>
              <a:t>• 医院斜置多水印</a:t>
            </a:r>
          </a:p>
          <a:p>
            <a:pPr algn="l">
              <a:lnSpc>
                <a:spcPct val="110000"/>
              </a:lnSpc>
            </a:pPr>
            <a:r>
              <a:rPr lang="zh-CN" sz="1500">
                <a:solidFill>
                  <a:srgbClr val="1F2937"/>
                </a:solidFill>
                <a:latin typeface="Microsoft YaHei"/>
                <a:ea typeface="Microsoft YaHei"/>
              </a:rPr>
              <a:t>• 中文/英文写作场景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7F9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00" name="Shape 900"/>
          <p:cNvSpPr txBox="1"/>
          <p:nvPr/>
        </p:nvSpPr>
        <p:spPr>
          <a:xfrm>
            <a:off x="411480" y="256032"/>
            <a:ext cx="164592" cy="411480"/>
          </a:xfrm>
          <a:prstGeom prst="rect">
            <a:avLst/>
          </a:prstGeom>
          <a:solidFill>
            <a:srgbClr val="1677FF"/>
          </a:solidFill>
          <a:ln>
            <a:noFill/>
          </a:ln>
        </p:spPr>
        <p:txBody>
          <a:bodyPr/>
          <a:lstStyle/>
          <a:p/>
        </p:txBody>
      </p:sp>
      <p:sp>
        <p:nvSpPr>
          <p:cNvPr id="901" name="Shape 901"/>
          <p:cNvSpPr txBox="1"/>
          <p:nvPr/>
        </p:nvSpPr>
        <p:spPr>
          <a:xfrm>
            <a:off x="658368" y="201168"/>
            <a:ext cx="8046720" cy="411480"/>
          </a:xfrm>
          <a:prstGeom prst="roundRect">
            <a:avLst/>
          </a:prstGeom>
          <a:noFill/>
          <a:ln>
            <a:noFill/>
          </a:ln>
        </p:spPr>
        <p:txBody>
          <a:bodyPr wrap="square" lIns="91440" tIns="45720" rIns="91440" bIns="45720"/>
          <a:lstStyle/>
          <a:p>
            <a:pPr algn="l">
              <a:lnSpc>
                <a:spcPct val="110000"/>
              </a:lnSpc>
            </a:pPr>
            <a:r>
              <a:rPr lang="zh-CN" sz="2500" b="1">
                <a:solidFill>
                  <a:srgbClr val="111827"/>
                </a:solidFill>
                <a:latin typeface="Microsoft YaHei"/>
                <a:ea typeface="Microsoft YaHei"/>
              </a:rPr>
              <a:t>核心能力六：病例数据集</a:t>
            </a:r>
          </a:p>
        </p:txBody>
      </p:sp>
      <p:sp>
        <p:nvSpPr>
          <p:cNvPr id="902" name="Shape 902"/>
          <p:cNvSpPr txBox="1"/>
          <p:nvPr/>
        </p:nvSpPr>
        <p:spPr>
          <a:xfrm>
            <a:off x="658368" y="621792"/>
            <a:ext cx="9601200" cy="320040"/>
          </a:xfrm>
          <a:prstGeom prst="roundRect">
            <a:avLst/>
          </a:prstGeom>
          <a:noFill/>
          <a:ln>
            <a:noFill/>
          </a:ln>
        </p:spPr>
        <p:txBody>
          <a:bodyPr wrap="square" lIns="91440" tIns="45720" rIns="91440" bIns="45720"/>
          <a:lstStyle/>
          <a:p>
            <a:pPr algn="l">
              <a:lnSpc>
                <a:spcPct val="110000"/>
              </a:lnSpc>
            </a:pPr>
            <a:r>
              <a:rPr lang="zh-CN" sz="1100">
                <a:solidFill>
                  <a:srgbClr val="6B7280"/>
                </a:solidFill>
                <a:latin typeface="Microsoft YaHei"/>
                <a:ea typeface="Microsoft YaHei"/>
              </a:rPr>
              <a:t>AI 贴近医生常见 Excel/CSV 工作方式，辅助完成轻量科研数据分析</a:t>
            </a:r>
          </a:p>
        </p:txBody>
      </p:sp>
      <p:sp>
        <p:nvSpPr>
          <p:cNvPr id="10" name="Shape 10"/>
          <p:cNvSpPr txBox="1"/>
          <p:nvPr/>
        </p:nvSpPr>
        <p:spPr>
          <a:xfrm>
            <a:off x="777240" y="1143000"/>
            <a:ext cx="2423160" cy="4160520"/>
          </a:xfrm>
          <a:prstGeom prst="roundRect">
            <a:avLst/>
          </a:prstGeom>
          <a:solidFill>
            <a:srgbClr val="EAF2FF"/>
          </a:solidFill>
          <a:ln w="12700">
            <a:solidFill>
              <a:srgbClr val="BBD6FF"/>
            </a:solidFill>
          </a:ln>
        </p:spPr>
        <p:txBody>
          <a:bodyPr wrap="square" lIns="91440" tIns="45720" rIns="91440" bIns="45720"/>
          <a:lstStyle/>
          <a:p>
            <a:pPr algn="l">
              <a:lnSpc>
                <a:spcPct val="110000"/>
              </a:lnSpc>
            </a:pPr>
            <a:r>
              <a:rPr lang="zh-CN" sz="1500" b="1">
                <a:solidFill>
                  <a:srgbClr val="1F2937"/>
                </a:solidFill>
                <a:latin typeface="Microsoft YaHei"/>
                <a:ea typeface="Microsoft YaHei"/>
              </a:rPr>
              <a:t>上传数据</a:t>
            </a:r>
          </a:p>
          <a:p>
            <a:pPr algn="l">
              <a:lnSpc>
                <a:spcPct val="110000"/>
              </a:lnSpc>
            </a:pPr>
            <a:r>
              <a:rPr lang="zh-CN" sz="1500" b="1">
                <a:solidFill>
                  <a:srgbClr val="1F2937"/>
                </a:solidFill>
                <a:latin typeface="Microsoft YaHei"/>
                <a:ea typeface="Microsoft YaHei"/>
              </a:rPr>
              <a:t/>
            </a:r>
          </a:p>
          <a:p>
            <a:pPr algn="l">
              <a:lnSpc>
                <a:spcPct val="110000"/>
              </a:lnSpc>
            </a:pPr>
            <a:r>
              <a:rPr lang="zh-CN" sz="1500" b="1">
                <a:solidFill>
                  <a:srgbClr val="1F2937"/>
                </a:solidFill>
                <a:latin typeface="Microsoft YaHei"/>
                <a:ea typeface="Microsoft YaHei"/>
              </a:rPr>
              <a:t>• 支持 CSV/XLSX</a:t>
            </a:r>
          </a:p>
          <a:p>
            <a:pPr algn="l">
              <a:lnSpc>
                <a:spcPct val="110000"/>
              </a:lnSpc>
            </a:pPr>
            <a:r>
              <a:rPr lang="zh-CN" sz="1500" b="1">
                <a:solidFill>
                  <a:srgbClr val="1F2937"/>
                </a:solidFill>
                <a:latin typeface="Microsoft YaHei"/>
                <a:ea typeface="Microsoft YaHei"/>
              </a:rPr>
              <a:t>• 适合医生整理后的脱敏病例表</a:t>
            </a:r>
          </a:p>
          <a:p>
            <a:pPr algn="l">
              <a:lnSpc>
                <a:spcPct val="110000"/>
              </a:lnSpc>
            </a:pPr>
            <a:r>
              <a:rPr lang="zh-CN" sz="1500" b="1">
                <a:solidFill>
                  <a:srgbClr val="1F2937"/>
                </a:solidFill>
                <a:latin typeface="Microsoft YaHei"/>
                <a:ea typeface="Microsoft YaHei"/>
              </a:rPr>
              <a:t>• 不依赖 HIS 对接即可试点</a:t>
            </a:r>
          </a:p>
        </p:txBody>
      </p:sp>
      <p:sp>
        <p:nvSpPr>
          <p:cNvPr id="20" name="Shape 20"/>
          <p:cNvSpPr txBox="1"/>
          <p:nvPr/>
        </p:nvSpPr>
        <p:spPr>
          <a:xfrm>
            <a:off x="3429000" y="1143000"/>
            <a:ext cx="2423160" cy="4160520"/>
          </a:xfrm>
          <a:prstGeom prst="roundRect">
            <a:avLst/>
          </a:prstGeom>
          <a:solidFill>
            <a:srgbClr val="ECFDF5"/>
          </a:solidFill>
          <a:ln w="12700">
            <a:solidFill>
              <a:srgbClr val="A7F3D0"/>
            </a:solidFill>
          </a:ln>
        </p:spPr>
        <p:txBody>
          <a:bodyPr wrap="square" lIns="91440" tIns="45720" rIns="91440" bIns="45720"/>
          <a:lstStyle/>
          <a:p>
            <a:pPr algn="l">
              <a:lnSpc>
                <a:spcPct val="110000"/>
              </a:lnSpc>
            </a:pPr>
            <a:r>
              <a:rPr lang="zh-CN" sz="1500" b="1">
                <a:solidFill>
                  <a:srgbClr val="1F2937"/>
                </a:solidFill>
                <a:latin typeface="Microsoft YaHei"/>
                <a:ea typeface="Microsoft YaHei"/>
              </a:rPr>
              <a:t>自动识别</a:t>
            </a:r>
          </a:p>
          <a:p>
            <a:pPr algn="l">
              <a:lnSpc>
                <a:spcPct val="110000"/>
              </a:lnSpc>
            </a:pPr>
            <a:r>
              <a:rPr lang="zh-CN" sz="1500" b="1">
                <a:solidFill>
                  <a:srgbClr val="1F2937"/>
                </a:solidFill>
                <a:latin typeface="Microsoft YaHei"/>
                <a:ea typeface="Microsoft YaHei"/>
              </a:rPr>
              <a:t/>
            </a:r>
          </a:p>
          <a:p>
            <a:pPr algn="l">
              <a:lnSpc>
                <a:spcPct val="110000"/>
              </a:lnSpc>
            </a:pPr>
            <a:r>
              <a:rPr lang="zh-CN" sz="1500" b="1">
                <a:solidFill>
                  <a:srgbClr val="1F2937"/>
                </a:solidFill>
                <a:latin typeface="Microsoft YaHei"/>
                <a:ea typeface="Microsoft YaHei"/>
              </a:rPr>
              <a:t>• 字段类型</a:t>
            </a:r>
          </a:p>
          <a:p>
            <a:pPr algn="l">
              <a:lnSpc>
                <a:spcPct val="110000"/>
              </a:lnSpc>
            </a:pPr>
            <a:r>
              <a:rPr lang="zh-CN" sz="1500" b="1">
                <a:solidFill>
                  <a:srgbClr val="1F2937"/>
                </a:solidFill>
                <a:latin typeface="Microsoft YaHei"/>
                <a:ea typeface="Microsoft YaHei"/>
              </a:rPr>
              <a:t>• 缺失率</a:t>
            </a:r>
          </a:p>
          <a:p>
            <a:pPr algn="l">
              <a:lnSpc>
                <a:spcPct val="110000"/>
              </a:lnSpc>
            </a:pPr>
            <a:r>
              <a:rPr lang="zh-CN" sz="1500" b="1">
                <a:solidFill>
                  <a:srgbClr val="1F2937"/>
                </a:solidFill>
                <a:latin typeface="Microsoft YaHei"/>
                <a:ea typeface="Microsoft YaHei"/>
              </a:rPr>
              <a:t>• 唯一值</a:t>
            </a:r>
          </a:p>
          <a:p>
            <a:pPr algn="l">
              <a:lnSpc>
                <a:spcPct val="110000"/>
              </a:lnSpc>
            </a:pPr>
            <a:r>
              <a:rPr lang="zh-CN" sz="1500" b="1">
                <a:solidFill>
                  <a:srgbClr val="1F2937"/>
                </a:solidFill>
                <a:latin typeface="Microsoft YaHei"/>
                <a:ea typeface="Microsoft YaHei"/>
              </a:rPr>
              <a:t>• 变量角色建议</a:t>
            </a:r>
          </a:p>
          <a:p>
            <a:pPr algn="l">
              <a:lnSpc>
                <a:spcPct val="110000"/>
              </a:lnSpc>
            </a:pPr>
            <a:r>
              <a:rPr lang="zh-CN" sz="1500" b="1">
                <a:solidFill>
                  <a:srgbClr val="1F2937"/>
                </a:solidFill>
                <a:latin typeface="Microsoft YaHei"/>
                <a:ea typeface="Microsoft YaHei"/>
              </a:rPr>
              <a:t>• 数据预览</a:t>
            </a:r>
          </a:p>
        </p:txBody>
      </p:sp>
      <p:sp>
        <p:nvSpPr>
          <p:cNvPr id="30" name="Shape 30"/>
          <p:cNvSpPr txBox="1"/>
          <p:nvPr/>
        </p:nvSpPr>
        <p:spPr>
          <a:xfrm>
            <a:off x="6080760" y="1143000"/>
            <a:ext cx="2423160" cy="4160520"/>
          </a:xfrm>
          <a:prstGeom prst="roundRect">
            <a:avLst/>
          </a:prstGeom>
          <a:solidFill>
            <a:srgbClr val="FFF7ED"/>
          </a:solidFill>
          <a:ln w="12700">
            <a:solidFill>
              <a:srgbClr val="FED7AA"/>
            </a:solidFill>
          </a:ln>
        </p:spPr>
        <p:txBody>
          <a:bodyPr wrap="square" lIns="91440" tIns="45720" rIns="91440" bIns="45720"/>
          <a:lstStyle/>
          <a:p>
            <a:pPr algn="l">
              <a:lnSpc>
                <a:spcPct val="110000"/>
              </a:lnSpc>
            </a:pPr>
            <a:r>
              <a:rPr lang="zh-CN" sz="1500" b="1">
                <a:solidFill>
                  <a:srgbClr val="1F2937"/>
                </a:solidFill>
                <a:latin typeface="Microsoft YaHei"/>
                <a:ea typeface="Microsoft YaHei"/>
              </a:rPr>
              <a:t>基础统计</a:t>
            </a:r>
          </a:p>
          <a:p>
            <a:pPr algn="l">
              <a:lnSpc>
                <a:spcPct val="110000"/>
              </a:lnSpc>
            </a:pPr>
            <a:r>
              <a:rPr lang="zh-CN" sz="1500" b="1">
                <a:solidFill>
                  <a:srgbClr val="1F2937"/>
                </a:solidFill>
                <a:latin typeface="Microsoft YaHei"/>
                <a:ea typeface="Microsoft YaHei"/>
              </a:rPr>
              <a:t/>
            </a:r>
          </a:p>
          <a:p>
            <a:pPr algn="l">
              <a:lnSpc>
                <a:spcPct val="110000"/>
              </a:lnSpc>
            </a:pPr>
            <a:r>
              <a:rPr lang="zh-CN" sz="1500" b="1">
                <a:solidFill>
                  <a:srgbClr val="1F2937"/>
                </a:solidFill>
                <a:latin typeface="Microsoft YaHei"/>
                <a:ea typeface="Microsoft YaHei"/>
              </a:rPr>
              <a:t>• 数值变量摘要</a:t>
            </a:r>
          </a:p>
          <a:p>
            <a:pPr algn="l">
              <a:lnSpc>
                <a:spcPct val="110000"/>
              </a:lnSpc>
            </a:pPr>
            <a:r>
              <a:rPr lang="zh-CN" sz="1500" b="1">
                <a:solidFill>
                  <a:srgbClr val="1F2937"/>
                </a:solidFill>
                <a:latin typeface="Microsoft YaHei"/>
                <a:ea typeface="Microsoft YaHei"/>
              </a:rPr>
              <a:t>• 分类变量频数</a:t>
            </a:r>
          </a:p>
          <a:p>
            <a:pPr algn="l">
              <a:lnSpc>
                <a:spcPct val="110000"/>
              </a:lnSpc>
            </a:pPr>
            <a:r>
              <a:rPr lang="zh-CN" sz="1500" b="1">
                <a:solidFill>
                  <a:srgbClr val="1F2937"/>
                </a:solidFill>
                <a:latin typeface="Microsoft YaHei"/>
                <a:ea typeface="Microsoft YaHei"/>
              </a:rPr>
              <a:t>• 缺失情况排序</a:t>
            </a:r>
          </a:p>
          <a:p>
            <a:pPr algn="l">
              <a:lnSpc>
                <a:spcPct val="110000"/>
              </a:lnSpc>
            </a:pPr>
            <a:r>
              <a:rPr lang="zh-CN" sz="1500" b="1">
                <a:solidFill>
                  <a:srgbClr val="1F2937"/>
                </a:solidFill>
                <a:latin typeface="Microsoft YaHei"/>
                <a:ea typeface="Microsoft YaHei"/>
              </a:rPr>
              <a:t>• 为统计分析计划做准备</a:t>
            </a:r>
          </a:p>
        </p:txBody>
      </p:sp>
      <p:sp>
        <p:nvSpPr>
          <p:cNvPr id="40" name="Shape 40"/>
          <p:cNvSpPr txBox="1"/>
          <p:nvPr/>
        </p:nvSpPr>
        <p:spPr>
          <a:xfrm>
            <a:off x="8732520" y="1143000"/>
            <a:ext cx="2057400" cy="4160520"/>
          </a:xfrm>
          <a:prstGeom prst="roundRect">
            <a:avLst/>
          </a:prstGeom>
          <a:solidFill>
            <a:srgbClr val="F5F3FF"/>
          </a:solidFill>
          <a:ln w="12700">
            <a:solidFill>
              <a:srgbClr val="DDD6FE"/>
            </a:solidFill>
          </a:ln>
        </p:spPr>
        <p:txBody>
          <a:bodyPr wrap="square" lIns="91440" tIns="45720" rIns="91440" bIns="45720"/>
          <a:lstStyle/>
          <a:p>
            <a:pPr algn="l">
              <a:lnSpc>
                <a:spcPct val="110000"/>
              </a:lnSpc>
            </a:pPr>
            <a:r>
              <a:rPr lang="zh-CN" sz="1500" b="1">
                <a:solidFill>
                  <a:srgbClr val="1F2937"/>
                </a:solidFill>
                <a:latin typeface="Microsoft YaHei"/>
                <a:ea typeface="Microsoft YaHei"/>
              </a:rPr>
              <a:t>科研建议</a:t>
            </a:r>
          </a:p>
          <a:p>
            <a:pPr algn="l">
              <a:lnSpc>
                <a:spcPct val="110000"/>
              </a:lnSpc>
            </a:pPr>
            <a:r>
              <a:rPr lang="zh-CN" sz="1500" b="1">
                <a:solidFill>
                  <a:srgbClr val="1F2937"/>
                </a:solidFill>
                <a:latin typeface="Microsoft YaHei"/>
                <a:ea typeface="Microsoft YaHei"/>
              </a:rPr>
              <a:t/>
            </a:r>
          </a:p>
          <a:p>
            <a:pPr algn="l">
              <a:lnSpc>
                <a:spcPct val="110000"/>
              </a:lnSpc>
            </a:pPr>
            <a:r>
              <a:rPr lang="zh-CN" sz="1500" b="1">
                <a:solidFill>
                  <a:srgbClr val="1F2937"/>
                </a:solidFill>
                <a:latin typeface="Microsoft YaHei"/>
                <a:ea typeface="Microsoft YaHei"/>
              </a:rPr>
              <a:t>AI 根据字段和问题生成选题、变量、分析方法和论文结果段落建议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7F9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00" name="Shape 900"/>
          <p:cNvSpPr txBox="1"/>
          <p:nvPr/>
        </p:nvSpPr>
        <p:spPr>
          <a:xfrm>
            <a:off x="411480" y="256032"/>
            <a:ext cx="164592" cy="411480"/>
          </a:xfrm>
          <a:prstGeom prst="rect">
            <a:avLst/>
          </a:prstGeom>
          <a:solidFill>
            <a:srgbClr val="1677FF"/>
          </a:solidFill>
          <a:ln>
            <a:noFill/>
          </a:ln>
        </p:spPr>
        <p:txBody>
          <a:bodyPr/>
          <a:lstStyle/>
          <a:p/>
        </p:txBody>
      </p:sp>
      <p:sp>
        <p:nvSpPr>
          <p:cNvPr id="901" name="Shape 901"/>
          <p:cNvSpPr txBox="1"/>
          <p:nvPr/>
        </p:nvSpPr>
        <p:spPr>
          <a:xfrm>
            <a:off x="658368" y="201168"/>
            <a:ext cx="8046720" cy="411480"/>
          </a:xfrm>
          <a:prstGeom prst="roundRect">
            <a:avLst/>
          </a:prstGeom>
          <a:noFill/>
          <a:ln>
            <a:noFill/>
          </a:ln>
        </p:spPr>
        <p:txBody>
          <a:bodyPr wrap="square" lIns="91440" tIns="45720" rIns="91440" bIns="45720"/>
          <a:lstStyle/>
          <a:p>
            <a:pPr algn="l">
              <a:lnSpc>
                <a:spcPct val="110000"/>
              </a:lnSpc>
            </a:pPr>
            <a:r>
              <a:rPr lang="zh-CN" sz="2500" b="1">
                <a:solidFill>
                  <a:srgbClr val="111827"/>
                </a:solidFill>
                <a:latin typeface="Microsoft YaHei"/>
                <a:ea typeface="Microsoft YaHei"/>
              </a:rPr>
              <a:t>产品价值闭环</a:t>
            </a:r>
          </a:p>
        </p:txBody>
      </p:sp>
      <p:sp>
        <p:nvSpPr>
          <p:cNvPr id="902" name="Shape 902"/>
          <p:cNvSpPr txBox="1"/>
          <p:nvPr/>
        </p:nvSpPr>
        <p:spPr>
          <a:xfrm>
            <a:off x="658368" y="621792"/>
            <a:ext cx="9601200" cy="320040"/>
          </a:xfrm>
          <a:prstGeom prst="roundRect">
            <a:avLst/>
          </a:prstGeom>
          <a:noFill/>
          <a:ln>
            <a:noFill/>
          </a:ln>
        </p:spPr>
        <p:txBody>
          <a:bodyPr wrap="square" lIns="91440" tIns="45720" rIns="91440" bIns="45720"/>
          <a:lstStyle/>
          <a:p>
            <a:pPr algn="l">
              <a:lnSpc>
                <a:spcPct val="110000"/>
              </a:lnSpc>
            </a:pPr>
            <a:r>
              <a:rPr lang="zh-CN" sz="1100">
                <a:solidFill>
                  <a:srgbClr val="6B7280"/>
                </a:solidFill>
                <a:latin typeface="Microsoft YaHei"/>
                <a:ea typeface="Microsoft YaHei"/>
              </a:rPr>
              <a:t>医生为什么会持续使用：因为每一步都能留下可复用产出</a:t>
            </a:r>
          </a:p>
        </p:txBody>
      </p:sp>
      <p:sp>
        <p:nvSpPr>
          <p:cNvPr id="10" name="Shape 10"/>
          <p:cNvSpPr txBox="1"/>
          <p:nvPr/>
        </p:nvSpPr>
        <p:spPr>
          <a:xfrm>
            <a:off x="731520" y="1005840"/>
            <a:ext cx="1600200" cy="658368"/>
          </a:xfrm>
          <a:prstGeom prst="roundRect">
            <a:avLst/>
          </a:prstGeom>
          <a:solidFill>
            <a:srgbClr val="EAF2FF"/>
          </a:solidFill>
          <a:ln w="12700">
            <a:solidFill>
              <a:srgbClr val="BBD6FF"/>
            </a:solidFill>
          </a:ln>
        </p:spPr>
        <p:txBody>
          <a:bodyPr wrap="square" lIns="91440" tIns="45720" rIns="91440" bIns="45720"/>
          <a:lstStyle/>
          <a:p>
            <a:pPr algn="ctr">
              <a:lnSpc>
                <a:spcPct val="110000"/>
              </a:lnSpc>
            </a:pPr>
            <a:r>
              <a:rPr lang="zh-CN" sz="1200" b="1">
                <a:solidFill>
                  <a:srgbClr val="1F2937"/>
                </a:solidFill>
                <a:latin typeface="Microsoft YaHei"/>
                <a:ea typeface="Microsoft YaHei"/>
              </a:rPr>
              <a:t>建关注点</a:t>
            </a:r>
          </a:p>
        </p:txBody>
      </p:sp>
      <p:sp>
        <p:nvSpPr>
          <p:cNvPr id="11" name="Shape 11"/>
          <p:cNvSpPr txBox="1"/>
          <p:nvPr/>
        </p:nvSpPr>
        <p:spPr>
          <a:xfrm>
            <a:off x="2359152" y="1188720"/>
            <a:ext cx="411480" cy="292608"/>
          </a:xfrm>
          <a:prstGeom prst="rightArrow">
            <a:avLst/>
          </a:prstGeom>
          <a:solidFill>
            <a:srgbClr val="1677FF"/>
          </a:solidFill>
          <a:ln>
            <a:noFill/>
          </a:ln>
        </p:spPr>
        <p:txBody>
          <a:bodyPr/>
          <a:lstStyle/>
          <a:p/>
        </p:txBody>
      </p:sp>
      <p:sp>
        <p:nvSpPr>
          <p:cNvPr id="13" name="Shape 13"/>
          <p:cNvSpPr txBox="1"/>
          <p:nvPr/>
        </p:nvSpPr>
        <p:spPr>
          <a:xfrm>
            <a:off x="2724912" y="1005840"/>
            <a:ext cx="1600200" cy="658368"/>
          </a:xfrm>
          <a:prstGeom prst="roundRect">
            <a:avLst/>
          </a:prstGeom>
          <a:solidFill>
            <a:srgbClr val="EAF2FF"/>
          </a:solidFill>
          <a:ln w="12700">
            <a:solidFill>
              <a:srgbClr val="BBD6FF"/>
            </a:solidFill>
          </a:ln>
        </p:spPr>
        <p:txBody>
          <a:bodyPr wrap="square" lIns="91440" tIns="45720" rIns="91440" bIns="45720"/>
          <a:lstStyle/>
          <a:p>
            <a:pPr algn="ctr">
              <a:lnSpc>
                <a:spcPct val="110000"/>
              </a:lnSpc>
            </a:pPr>
            <a:r>
              <a:rPr lang="zh-CN" sz="1200" b="1">
                <a:solidFill>
                  <a:srgbClr val="1F2937"/>
                </a:solidFill>
                <a:latin typeface="Microsoft YaHei"/>
                <a:ea typeface="Microsoft YaHei"/>
              </a:rPr>
              <a:t>自动同步</a:t>
            </a:r>
          </a:p>
        </p:txBody>
      </p:sp>
      <p:sp>
        <p:nvSpPr>
          <p:cNvPr id="14" name="Shape 14"/>
          <p:cNvSpPr txBox="1"/>
          <p:nvPr/>
        </p:nvSpPr>
        <p:spPr>
          <a:xfrm>
            <a:off x="4352544" y="1188720"/>
            <a:ext cx="411480" cy="292608"/>
          </a:xfrm>
          <a:prstGeom prst="rightArrow">
            <a:avLst/>
          </a:prstGeom>
          <a:solidFill>
            <a:srgbClr val="1677FF"/>
          </a:solidFill>
          <a:ln>
            <a:noFill/>
          </a:ln>
        </p:spPr>
        <p:txBody>
          <a:bodyPr/>
          <a:lstStyle/>
          <a:p/>
        </p:txBody>
      </p:sp>
      <p:sp>
        <p:nvSpPr>
          <p:cNvPr id="16" name="Shape 16"/>
          <p:cNvSpPr txBox="1"/>
          <p:nvPr/>
        </p:nvSpPr>
        <p:spPr>
          <a:xfrm>
            <a:off x="4718304" y="1005840"/>
            <a:ext cx="1600200" cy="658368"/>
          </a:xfrm>
          <a:prstGeom prst="roundRect">
            <a:avLst/>
          </a:prstGeom>
          <a:solidFill>
            <a:srgbClr val="EAF2FF"/>
          </a:solidFill>
          <a:ln w="12700">
            <a:solidFill>
              <a:srgbClr val="BBD6FF"/>
            </a:solidFill>
          </a:ln>
        </p:spPr>
        <p:txBody>
          <a:bodyPr wrap="square" lIns="91440" tIns="45720" rIns="91440" bIns="45720"/>
          <a:lstStyle/>
          <a:p>
            <a:pPr algn="ctr">
              <a:lnSpc>
                <a:spcPct val="110000"/>
              </a:lnSpc>
            </a:pPr>
            <a:r>
              <a:rPr lang="zh-CN" sz="1200" b="1">
                <a:solidFill>
                  <a:srgbClr val="1F2937"/>
                </a:solidFill>
                <a:latin typeface="Microsoft YaHei"/>
                <a:ea typeface="Microsoft YaHei"/>
              </a:rPr>
              <a:t>精读论文</a:t>
            </a:r>
          </a:p>
        </p:txBody>
      </p:sp>
      <p:sp>
        <p:nvSpPr>
          <p:cNvPr id="17" name="Shape 17"/>
          <p:cNvSpPr txBox="1"/>
          <p:nvPr/>
        </p:nvSpPr>
        <p:spPr>
          <a:xfrm>
            <a:off x="6345936" y="1188720"/>
            <a:ext cx="411480" cy="292608"/>
          </a:xfrm>
          <a:prstGeom prst="rightArrow">
            <a:avLst/>
          </a:prstGeom>
          <a:solidFill>
            <a:srgbClr val="1677FF"/>
          </a:solidFill>
          <a:ln>
            <a:noFill/>
          </a:ln>
        </p:spPr>
        <p:txBody>
          <a:bodyPr/>
          <a:lstStyle/>
          <a:p/>
        </p:txBody>
      </p:sp>
      <p:sp>
        <p:nvSpPr>
          <p:cNvPr id="19" name="Shape 19"/>
          <p:cNvSpPr txBox="1"/>
          <p:nvPr/>
        </p:nvSpPr>
        <p:spPr>
          <a:xfrm>
            <a:off x="6711696" y="1005840"/>
            <a:ext cx="1600200" cy="658368"/>
          </a:xfrm>
          <a:prstGeom prst="roundRect">
            <a:avLst/>
          </a:prstGeom>
          <a:solidFill>
            <a:srgbClr val="EAF2FF"/>
          </a:solidFill>
          <a:ln w="12700">
            <a:solidFill>
              <a:srgbClr val="BBD6FF"/>
            </a:solidFill>
          </a:ln>
        </p:spPr>
        <p:txBody>
          <a:bodyPr wrap="square" lIns="91440" tIns="45720" rIns="91440" bIns="45720"/>
          <a:lstStyle/>
          <a:p>
            <a:pPr algn="ctr">
              <a:lnSpc>
                <a:spcPct val="110000"/>
              </a:lnSpc>
            </a:pPr>
            <a:r>
              <a:rPr lang="zh-CN" sz="1200" b="1">
                <a:solidFill>
                  <a:srgbClr val="1F2937"/>
                </a:solidFill>
                <a:latin typeface="Microsoft YaHei"/>
                <a:ea typeface="Microsoft YaHei"/>
              </a:rPr>
              <a:t>设计课题</a:t>
            </a:r>
          </a:p>
        </p:txBody>
      </p:sp>
      <p:sp>
        <p:nvSpPr>
          <p:cNvPr id="20" name="Shape 20"/>
          <p:cNvSpPr txBox="1"/>
          <p:nvPr/>
        </p:nvSpPr>
        <p:spPr>
          <a:xfrm>
            <a:off x="8339327" y="1188720"/>
            <a:ext cx="411480" cy="292608"/>
          </a:xfrm>
          <a:prstGeom prst="rightArrow">
            <a:avLst/>
          </a:prstGeom>
          <a:solidFill>
            <a:srgbClr val="1677FF"/>
          </a:solidFill>
          <a:ln>
            <a:noFill/>
          </a:ln>
        </p:spPr>
        <p:txBody>
          <a:bodyPr/>
          <a:lstStyle/>
          <a:p/>
        </p:txBody>
      </p:sp>
      <p:sp>
        <p:nvSpPr>
          <p:cNvPr id="22" name="Shape 22"/>
          <p:cNvSpPr txBox="1"/>
          <p:nvPr/>
        </p:nvSpPr>
        <p:spPr>
          <a:xfrm>
            <a:off x="8705088" y="1005840"/>
            <a:ext cx="1600200" cy="658368"/>
          </a:xfrm>
          <a:prstGeom prst="roundRect">
            <a:avLst/>
          </a:prstGeom>
          <a:solidFill>
            <a:srgbClr val="EAF2FF"/>
          </a:solidFill>
          <a:ln w="12700">
            <a:solidFill>
              <a:srgbClr val="BBD6FF"/>
            </a:solidFill>
          </a:ln>
        </p:spPr>
        <p:txBody>
          <a:bodyPr wrap="square" lIns="91440" tIns="45720" rIns="91440" bIns="45720"/>
          <a:lstStyle/>
          <a:p>
            <a:pPr algn="ctr">
              <a:lnSpc>
                <a:spcPct val="110000"/>
              </a:lnSpc>
            </a:pPr>
            <a:r>
              <a:rPr lang="zh-CN" sz="1200" b="1">
                <a:solidFill>
                  <a:srgbClr val="1F2937"/>
                </a:solidFill>
                <a:latin typeface="Microsoft YaHei"/>
                <a:ea typeface="Microsoft YaHei"/>
              </a:rPr>
              <a:t>生成草稿</a:t>
            </a:r>
          </a:p>
        </p:txBody>
      </p:sp>
      <p:sp>
        <p:nvSpPr>
          <p:cNvPr id="40" name="Shape 40"/>
          <p:cNvSpPr txBox="1"/>
          <p:nvPr/>
        </p:nvSpPr>
        <p:spPr>
          <a:xfrm>
            <a:off x="822960" y="2560320"/>
            <a:ext cx="9875520" cy="246888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5E7EB"/>
            </a:solidFill>
          </a:ln>
        </p:spPr>
        <p:txBody>
          <a:bodyPr wrap="square" lIns="91440" tIns="45720" rIns="91440" bIns="45720"/>
          <a:lstStyle/>
          <a:p>
            <a:pPr algn="l">
              <a:lnSpc>
                <a:spcPct val="110000"/>
              </a:lnSpc>
            </a:pPr>
            <a:r>
              <a:rPr lang="zh-CN" sz="1500">
                <a:solidFill>
                  <a:srgbClr val="1F2937"/>
                </a:solidFill>
                <a:latin typeface="Microsoft YaHei"/>
                <a:ea typeface="Microsoft YaHei"/>
              </a:rPr>
              <a:t>持续使用的原因</a:t>
            </a:r>
          </a:p>
          <a:p>
            <a:pPr algn="l">
              <a:lnSpc>
                <a:spcPct val="110000"/>
              </a:lnSpc>
            </a:pPr>
            <a:r>
              <a:rPr lang="zh-CN" sz="1500">
                <a:solidFill>
                  <a:srgbClr val="1F2937"/>
                </a:solidFill>
                <a:latin typeface="Microsoft YaHei"/>
                <a:ea typeface="Microsoft YaHei"/>
              </a:rPr>
              <a:t/>
            </a:r>
          </a:p>
          <a:p>
            <a:pPr algn="l">
              <a:lnSpc>
                <a:spcPct val="110000"/>
              </a:lnSpc>
            </a:pPr>
            <a:r>
              <a:rPr lang="zh-CN" sz="1500">
                <a:solidFill>
                  <a:srgbClr val="1F2937"/>
                </a:solidFill>
                <a:latin typeface="Microsoft YaHei"/>
                <a:ea typeface="Microsoft YaHei"/>
              </a:rPr>
              <a:t>1. 系统主动发现新论文，医生不再每天重复检索</a:t>
            </a:r>
          </a:p>
          <a:p>
            <a:pPr algn="l">
              <a:lnSpc>
                <a:spcPct val="110000"/>
              </a:lnSpc>
            </a:pPr>
            <a:r>
              <a:rPr lang="zh-CN" sz="1500">
                <a:solidFill>
                  <a:srgbClr val="1F2937"/>
                </a:solidFill>
                <a:latin typeface="Microsoft YaHei"/>
                <a:ea typeface="Microsoft YaHei"/>
              </a:rPr>
              <a:t>2. AI 先做可信度和价值预筛，减少无效阅读</a:t>
            </a:r>
          </a:p>
          <a:p>
            <a:pPr algn="l">
              <a:lnSpc>
                <a:spcPct val="110000"/>
              </a:lnSpc>
            </a:pPr>
            <a:r>
              <a:rPr lang="zh-CN" sz="1500">
                <a:solidFill>
                  <a:srgbClr val="1F2937"/>
                </a:solidFill>
                <a:latin typeface="Microsoft YaHei"/>
                <a:ea typeface="Microsoft YaHei"/>
              </a:rPr>
              <a:t>3. 精读卡片、鉴真结果、问答记录会沉淀为科室知识资产</a:t>
            </a:r>
          </a:p>
          <a:p>
            <a:pPr algn="l">
              <a:lnSpc>
                <a:spcPct val="110000"/>
              </a:lnSpc>
            </a:pPr>
            <a:r>
              <a:rPr lang="zh-CN" sz="1500">
                <a:solidFill>
                  <a:srgbClr val="1F2937"/>
                </a:solidFill>
                <a:latin typeface="Microsoft YaHei"/>
                <a:ea typeface="Microsoft YaHei"/>
              </a:rPr>
              <a:t>4. 研究设计和写作素材可以直接进入草稿</a:t>
            </a:r>
          </a:p>
          <a:p>
            <a:pPr algn="l">
              <a:lnSpc>
                <a:spcPct val="110000"/>
              </a:lnSpc>
            </a:pPr>
            <a:r>
              <a:rPr lang="zh-CN" sz="1500">
                <a:solidFill>
                  <a:srgbClr val="1F2937"/>
                </a:solidFill>
                <a:latin typeface="Microsoft YaHei"/>
                <a:ea typeface="Microsoft YaHei"/>
              </a:rPr>
              <a:t>5. Word/PDF 导出支持医院水印，便于内部流转和评审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7F9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00" name="Shape 900"/>
          <p:cNvSpPr txBox="1"/>
          <p:nvPr/>
        </p:nvSpPr>
        <p:spPr>
          <a:xfrm>
            <a:off x="411480" y="256032"/>
            <a:ext cx="164592" cy="411480"/>
          </a:xfrm>
          <a:prstGeom prst="rect">
            <a:avLst/>
          </a:prstGeom>
          <a:solidFill>
            <a:srgbClr val="1677FF"/>
          </a:solidFill>
          <a:ln>
            <a:noFill/>
          </a:ln>
        </p:spPr>
        <p:txBody>
          <a:bodyPr/>
          <a:lstStyle/>
          <a:p/>
        </p:txBody>
      </p:sp>
      <p:sp>
        <p:nvSpPr>
          <p:cNvPr id="901" name="Shape 901"/>
          <p:cNvSpPr txBox="1"/>
          <p:nvPr/>
        </p:nvSpPr>
        <p:spPr>
          <a:xfrm>
            <a:off x="658368" y="201168"/>
            <a:ext cx="8046720" cy="411480"/>
          </a:xfrm>
          <a:prstGeom prst="roundRect">
            <a:avLst/>
          </a:prstGeom>
          <a:noFill/>
          <a:ln>
            <a:noFill/>
          </a:ln>
        </p:spPr>
        <p:txBody>
          <a:bodyPr wrap="square" lIns="91440" tIns="45720" rIns="91440" bIns="45720"/>
          <a:lstStyle/>
          <a:p>
            <a:pPr algn="l">
              <a:lnSpc>
                <a:spcPct val="110000"/>
              </a:lnSpc>
            </a:pPr>
            <a:r>
              <a:rPr lang="zh-CN" sz="2500" b="1">
                <a:solidFill>
                  <a:srgbClr val="111827"/>
                </a:solidFill>
                <a:latin typeface="Microsoft YaHei"/>
                <a:ea typeface="Microsoft YaHei"/>
              </a:rPr>
              <a:t>AI 产品优势</a:t>
            </a:r>
          </a:p>
        </p:txBody>
      </p:sp>
      <p:sp>
        <p:nvSpPr>
          <p:cNvPr id="902" name="Shape 902"/>
          <p:cNvSpPr txBox="1"/>
          <p:nvPr/>
        </p:nvSpPr>
        <p:spPr>
          <a:xfrm>
            <a:off x="658368" y="621792"/>
            <a:ext cx="9601200" cy="320040"/>
          </a:xfrm>
          <a:prstGeom prst="roundRect">
            <a:avLst/>
          </a:prstGeom>
          <a:noFill/>
          <a:ln>
            <a:noFill/>
          </a:ln>
        </p:spPr>
        <p:txBody>
          <a:bodyPr wrap="square" lIns="91440" tIns="45720" rIns="91440" bIns="45720"/>
          <a:lstStyle/>
          <a:p>
            <a:pPr algn="l">
              <a:lnSpc>
                <a:spcPct val="110000"/>
              </a:lnSpc>
            </a:pPr>
            <a:r>
              <a:rPr lang="zh-CN" sz="1100">
                <a:solidFill>
                  <a:srgbClr val="6B7280"/>
                </a:solidFill>
                <a:latin typeface="Microsoft YaHei"/>
                <a:ea typeface="Microsoft YaHei"/>
              </a:rPr>
              <a:t>不是一个聊天框，而是面向医生科研产出的智能工作台</a:t>
            </a:r>
          </a:p>
        </p:txBody>
      </p:sp>
      <p:sp>
        <p:nvSpPr>
          <p:cNvPr id="10" name="Shape 10"/>
          <p:cNvSpPr txBox="1"/>
          <p:nvPr/>
        </p:nvSpPr>
        <p:spPr>
          <a:xfrm>
            <a:off x="731520" y="1051560"/>
            <a:ext cx="2377440" cy="4297680"/>
          </a:xfrm>
          <a:prstGeom prst="roundRect">
            <a:avLst/>
          </a:prstGeom>
          <a:solidFill>
            <a:srgbClr val="FEE2E2"/>
          </a:solidFill>
          <a:ln w="12700">
            <a:solidFill>
              <a:srgbClr val="FCA5A5"/>
            </a:solidFill>
          </a:ln>
        </p:spPr>
        <p:txBody>
          <a:bodyPr wrap="square" lIns="91440" tIns="45720" rIns="91440" bIns="45720"/>
          <a:lstStyle/>
          <a:p>
            <a:pPr algn="l">
              <a:lnSpc>
                <a:spcPct val="110000"/>
              </a:lnSpc>
            </a:pPr>
            <a:r>
              <a:rPr lang="zh-CN" sz="1500">
                <a:solidFill>
                  <a:srgbClr val="1F2937"/>
                </a:solidFill>
                <a:latin typeface="Microsoft YaHei"/>
                <a:ea typeface="Microsoft YaHei"/>
              </a:rPr>
              <a:t>通用大模型</a:t>
            </a:r>
          </a:p>
          <a:p>
            <a:pPr algn="l">
              <a:lnSpc>
                <a:spcPct val="110000"/>
              </a:lnSpc>
            </a:pPr>
            <a:r>
              <a:rPr lang="zh-CN" sz="1500">
                <a:solidFill>
                  <a:srgbClr val="1F2937"/>
                </a:solidFill>
                <a:latin typeface="Microsoft YaHei"/>
                <a:ea typeface="Microsoft YaHei"/>
              </a:rPr>
              <a:t/>
            </a:r>
          </a:p>
          <a:p>
            <a:pPr algn="l">
              <a:lnSpc>
                <a:spcPct val="110000"/>
              </a:lnSpc>
            </a:pPr>
            <a:r>
              <a:rPr lang="zh-CN" sz="1500">
                <a:solidFill>
                  <a:srgbClr val="1F2937"/>
                </a:solidFill>
                <a:latin typeface="Microsoft YaHei"/>
                <a:ea typeface="Microsoft YaHei"/>
              </a:rPr>
              <a:t>• 临时问答</a:t>
            </a:r>
          </a:p>
          <a:p>
            <a:pPr algn="l">
              <a:lnSpc>
                <a:spcPct val="110000"/>
              </a:lnSpc>
            </a:pPr>
            <a:r>
              <a:rPr lang="zh-CN" sz="1500">
                <a:solidFill>
                  <a:srgbClr val="1F2937"/>
                </a:solidFill>
                <a:latin typeface="Microsoft YaHei"/>
                <a:ea typeface="Microsoft YaHei"/>
              </a:rPr>
              <a:t>• 无本地知识沉淀</a:t>
            </a:r>
          </a:p>
          <a:p>
            <a:pPr algn="l">
              <a:lnSpc>
                <a:spcPct val="110000"/>
              </a:lnSpc>
            </a:pPr>
            <a:r>
              <a:rPr lang="zh-CN" sz="1500">
                <a:solidFill>
                  <a:srgbClr val="1F2937"/>
                </a:solidFill>
                <a:latin typeface="Microsoft YaHei"/>
                <a:ea typeface="Microsoft YaHei"/>
              </a:rPr>
              <a:t>• 缺少权限审计</a:t>
            </a:r>
          </a:p>
          <a:p>
            <a:pPr algn="l">
              <a:lnSpc>
                <a:spcPct val="110000"/>
              </a:lnSpc>
            </a:pPr>
            <a:r>
              <a:rPr lang="zh-CN" sz="1500">
                <a:solidFill>
                  <a:srgbClr val="1F2937"/>
                </a:solidFill>
                <a:latin typeface="Microsoft YaHei"/>
                <a:ea typeface="Microsoft YaHei"/>
              </a:rPr>
              <a:t>• 难以连接科研工作流</a:t>
            </a:r>
          </a:p>
        </p:txBody>
      </p:sp>
      <p:sp>
        <p:nvSpPr>
          <p:cNvPr id="20" name="Shape 20"/>
          <p:cNvSpPr txBox="1"/>
          <p:nvPr/>
        </p:nvSpPr>
        <p:spPr>
          <a:xfrm>
            <a:off x="3429000" y="1051560"/>
            <a:ext cx="2377440" cy="4297680"/>
          </a:xfrm>
          <a:prstGeom prst="roundRect">
            <a:avLst/>
          </a:prstGeom>
          <a:solidFill>
            <a:srgbClr val="FEF3C7"/>
          </a:solidFill>
          <a:ln w="12700">
            <a:solidFill>
              <a:srgbClr val="FCD34D"/>
            </a:solidFill>
          </a:ln>
        </p:spPr>
        <p:txBody>
          <a:bodyPr wrap="square" lIns="91440" tIns="45720" rIns="91440" bIns="45720"/>
          <a:lstStyle/>
          <a:p>
            <a:pPr algn="l">
              <a:lnSpc>
                <a:spcPct val="110000"/>
              </a:lnSpc>
            </a:pPr>
            <a:r>
              <a:rPr lang="zh-CN" sz="1500">
                <a:solidFill>
                  <a:srgbClr val="1F2937"/>
                </a:solidFill>
                <a:latin typeface="Microsoft YaHei"/>
                <a:ea typeface="Microsoft YaHei"/>
              </a:rPr>
              <a:t>传统文献管理</a:t>
            </a:r>
          </a:p>
          <a:p>
            <a:pPr algn="l">
              <a:lnSpc>
                <a:spcPct val="110000"/>
              </a:lnSpc>
            </a:pPr>
            <a:r>
              <a:rPr lang="zh-CN" sz="1500">
                <a:solidFill>
                  <a:srgbClr val="1F2937"/>
                </a:solidFill>
                <a:latin typeface="Microsoft YaHei"/>
                <a:ea typeface="Microsoft YaHei"/>
              </a:rPr>
              <a:t/>
            </a:r>
          </a:p>
          <a:p>
            <a:pPr algn="l">
              <a:lnSpc>
                <a:spcPct val="110000"/>
              </a:lnSpc>
            </a:pPr>
            <a:r>
              <a:rPr lang="zh-CN" sz="1500">
                <a:solidFill>
                  <a:srgbClr val="1F2937"/>
                </a:solidFill>
                <a:latin typeface="Microsoft YaHei"/>
                <a:ea typeface="Microsoft YaHei"/>
              </a:rPr>
              <a:t>• 管 PDF 和引用</a:t>
            </a:r>
          </a:p>
          <a:p>
            <a:pPr algn="l">
              <a:lnSpc>
                <a:spcPct val="110000"/>
              </a:lnSpc>
            </a:pPr>
            <a:r>
              <a:rPr lang="zh-CN" sz="1500">
                <a:solidFill>
                  <a:srgbClr val="1F2937"/>
                </a:solidFill>
                <a:latin typeface="Microsoft YaHei"/>
                <a:ea typeface="Microsoft YaHei"/>
              </a:rPr>
              <a:t>• 不理解研究问题</a:t>
            </a:r>
          </a:p>
          <a:p>
            <a:pPr algn="l">
              <a:lnSpc>
                <a:spcPct val="110000"/>
              </a:lnSpc>
            </a:pPr>
            <a:r>
              <a:rPr lang="zh-CN" sz="1500">
                <a:solidFill>
                  <a:srgbClr val="1F2937"/>
                </a:solidFill>
                <a:latin typeface="Microsoft YaHei"/>
                <a:ea typeface="Microsoft YaHei"/>
              </a:rPr>
              <a:t>• 不自动发现前沿</a:t>
            </a:r>
          </a:p>
          <a:p>
            <a:pPr algn="l">
              <a:lnSpc>
                <a:spcPct val="110000"/>
              </a:lnSpc>
            </a:pPr>
            <a:r>
              <a:rPr lang="zh-CN" sz="1500">
                <a:solidFill>
                  <a:srgbClr val="1F2937"/>
                </a:solidFill>
                <a:latin typeface="Microsoft YaHei"/>
                <a:ea typeface="Microsoft YaHei"/>
              </a:rPr>
              <a:t>• 不辅助写作和课题</a:t>
            </a:r>
          </a:p>
        </p:txBody>
      </p:sp>
      <p:sp>
        <p:nvSpPr>
          <p:cNvPr id="30" name="Shape 30"/>
          <p:cNvSpPr txBox="1"/>
          <p:nvPr/>
        </p:nvSpPr>
        <p:spPr>
          <a:xfrm>
            <a:off x="6126480" y="1051560"/>
            <a:ext cx="2377440" cy="4297680"/>
          </a:xfrm>
          <a:prstGeom prst="roundRect">
            <a:avLst/>
          </a:prstGeom>
          <a:solidFill>
            <a:srgbClr val="DCFCE7"/>
          </a:solidFill>
          <a:ln w="12700">
            <a:solidFill>
              <a:srgbClr val="86EFAC"/>
            </a:solidFill>
          </a:ln>
        </p:spPr>
        <p:txBody>
          <a:bodyPr wrap="square" lIns="91440" tIns="45720" rIns="91440" bIns="45720"/>
          <a:lstStyle/>
          <a:p>
            <a:pPr algn="l">
              <a:lnSpc>
                <a:spcPct val="110000"/>
              </a:lnSpc>
            </a:pPr>
            <a:r>
              <a:rPr lang="zh-CN" sz="1500">
                <a:solidFill>
                  <a:srgbClr val="1F2937"/>
                </a:solidFill>
                <a:latin typeface="Microsoft YaHei"/>
                <a:ea typeface="Microsoft YaHei"/>
              </a:rPr>
              <a:t>MEKS</a:t>
            </a:r>
          </a:p>
          <a:p>
            <a:pPr algn="l">
              <a:lnSpc>
                <a:spcPct val="110000"/>
              </a:lnSpc>
            </a:pPr>
            <a:r>
              <a:rPr lang="zh-CN" sz="1500">
                <a:solidFill>
                  <a:srgbClr val="1F2937"/>
                </a:solidFill>
                <a:latin typeface="Microsoft YaHei"/>
                <a:ea typeface="Microsoft YaHei"/>
              </a:rPr>
              <a:t/>
            </a:r>
          </a:p>
          <a:p>
            <a:pPr algn="l">
              <a:lnSpc>
                <a:spcPct val="110000"/>
              </a:lnSpc>
            </a:pPr>
            <a:r>
              <a:rPr lang="zh-CN" sz="1500">
                <a:solidFill>
                  <a:srgbClr val="1F2937"/>
                </a:solidFill>
                <a:latin typeface="Microsoft YaHei"/>
                <a:ea typeface="Microsoft YaHei"/>
              </a:rPr>
              <a:t>• 前沿发现</a:t>
            </a:r>
          </a:p>
          <a:p>
            <a:pPr algn="l">
              <a:lnSpc>
                <a:spcPct val="110000"/>
              </a:lnSpc>
            </a:pPr>
            <a:r>
              <a:rPr lang="zh-CN" sz="1500">
                <a:solidFill>
                  <a:srgbClr val="1F2937"/>
                </a:solidFill>
                <a:latin typeface="Microsoft YaHei"/>
                <a:ea typeface="Microsoft YaHei"/>
              </a:rPr>
              <a:t>• 私有知识库</a:t>
            </a:r>
          </a:p>
          <a:p>
            <a:pPr algn="l">
              <a:lnSpc>
                <a:spcPct val="110000"/>
              </a:lnSpc>
            </a:pPr>
            <a:r>
              <a:rPr lang="zh-CN" sz="1500">
                <a:solidFill>
                  <a:srgbClr val="1F2937"/>
                </a:solidFill>
                <a:latin typeface="Microsoft YaHei"/>
                <a:ea typeface="Microsoft YaHei"/>
              </a:rPr>
              <a:t>• 论文鉴真</a:t>
            </a:r>
          </a:p>
          <a:p>
            <a:pPr algn="l">
              <a:lnSpc>
                <a:spcPct val="110000"/>
              </a:lnSpc>
            </a:pPr>
            <a:r>
              <a:rPr lang="zh-CN" sz="1500">
                <a:solidFill>
                  <a:srgbClr val="1F2937"/>
                </a:solidFill>
                <a:latin typeface="Microsoft YaHei"/>
                <a:ea typeface="Microsoft YaHei"/>
              </a:rPr>
              <a:t>• 精读卡片</a:t>
            </a:r>
          </a:p>
          <a:p>
            <a:pPr algn="l">
              <a:lnSpc>
                <a:spcPct val="110000"/>
              </a:lnSpc>
            </a:pPr>
            <a:r>
              <a:rPr lang="zh-CN" sz="1500">
                <a:solidFill>
                  <a:srgbClr val="1F2937"/>
                </a:solidFill>
                <a:latin typeface="Microsoft YaHei"/>
                <a:ea typeface="Microsoft YaHei"/>
              </a:rPr>
              <a:t>• 科研设计</a:t>
            </a:r>
          </a:p>
          <a:p>
            <a:pPr algn="l">
              <a:lnSpc>
                <a:spcPct val="110000"/>
              </a:lnSpc>
            </a:pPr>
            <a:r>
              <a:rPr lang="zh-CN" sz="1500">
                <a:solidFill>
                  <a:srgbClr val="1F2937"/>
                </a:solidFill>
                <a:latin typeface="Microsoft YaHei"/>
                <a:ea typeface="Microsoft YaHei"/>
              </a:rPr>
              <a:t>• 论文协作</a:t>
            </a:r>
          </a:p>
          <a:p>
            <a:pPr algn="l">
              <a:lnSpc>
                <a:spcPct val="110000"/>
              </a:lnSpc>
            </a:pPr>
            <a:r>
              <a:rPr lang="zh-CN" sz="1500">
                <a:solidFill>
                  <a:srgbClr val="1F2937"/>
                </a:solidFill>
                <a:latin typeface="Microsoft YaHei"/>
                <a:ea typeface="Microsoft YaHei"/>
              </a:rPr>
              <a:t>• 病例数据集</a:t>
            </a:r>
          </a:p>
        </p:txBody>
      </p:sp>
      <p:sp>
        <p:nvSpPr>
          <p:cNvPr id="40" name="Shape 40"/>
          <p:cNvSpPr txBox="1"/>
          <p:nvPr/>
        </p:nvSpPr>
        <p:spPr>
          <a:xfrm>
            <a:off x="8823960" y="1051560"/>
            <a:ext cx="2377440" cy="4297680"/>
          </a:xfrm>
          <a:prstGeom prst="roundRect">
            <a:avLst/>
          </a:prstGeom>
          <a:solidFill>
            <a:srgbClr val="DBEAFE"/>
          </a:solidFill>
          <a:ln w="12700">
            <a:solidFill>
              <a:srgbClr val="93C5FD"/>
            </a:solidFill>
          </a:ln>
        </p:spPr>
        <p:txBody>
          <a:bodyPr wrap="square" lIns="91440" tIns="45720" rIns="91440" bIns="45720"/>
          <a:lstStyle/>
          <a:p>
            <a:pPr algn="l">
              <a:lnSpc>
                <a:spcPct val="110000"/>
              </a:lnSpc>
            </a:pPr>
            <a:r>
              <a:rPr lang="zh-CN" sz="1500">
                <a:solidFill>
                  <a:srgbClr val="1F2937"/>
                </a:solidFill>
                <a:latin typeface="Microsoft YaHei"/>
                <a:ea typeface="Microsoft YaHei"/>
              </a:rPr>
              <a:t>核心价值</a:t>
            </a:r>
          </a:p>
          <a:p>
            <a:pPr algn="l">
              <a:lnSpc>
                <a:spcPct val="110000"/>
              </a:lnSpc>
            </a:pPr>
            <a:r>
              <a:rPr lang="zh-CN" sz="1500">
                <a:solidFill>
                  <a:srgbClr val="1F2937"/>
                </a:solidFill>
                <a:latin typeface="Microsoft YaHei"/>
                <a:ea typeface="Microsoft YaHei"/>
              </a:rPr>
              <a:t/>
            </a:r>
          </a:p>
          <a:p>
            <a:pPr algn="l">
              <a:lnSpc>
                <a:spcPct val="110000"/>
              </a:lnSpc>
            </a:pPr>
            <a:r>
              <a:rPr lang="zh-CN" sz="1500">
                <a:solidFill>
                  <a:srgbClr val="1F2937"/>
                </a:solidFill>
                <a:latin typeface="Microsoft YaHei"/>
                <a:ea typeface="Microsoft YaHei"/>
              </a:rPr>
              <a:t>• 科研提效</a:t>
            </a:r>
          </a:p>
          <a:p>
            <a:pPr algn="l">
              <a:lnSpc>
                <a:spcPct val="110000"/>
              </a:lnSpc>
            </a:pPr>
            <a:r>
              <a:rPr lang="zh-CN" sz="1500">
                <a:solidFill>
                  <a:srgbClr val="1F2937"/>
                </a:solidFill>
                <a:latin typeface="Microsoft YaHei"/>
                <a:ea typeface="Microsoft YaHei"/>
              </a:rPr>
              <a:t>• 科室资产沉淀</a:t>
            </a:r>
          </a:p>
          <a:p>
            <a:pPr algn="l">
              <a:lnSpc>
                <a:spcPct val="110000"/>
              </a:lnSpc>
            </a:pPr>
            <a:r>
              <a:rPr lang="zh-CN" sz="1500">
                <a:solidFill>
                  <a:srgbClr val="1F2937"/>
                </a:solidFill>
                <a:latin typeface="Microsoft YaHei"/>
                <a:ea typeface="Microsoft YaHei"/>
              </a:rPr>
              <a:t>• 青年医生培养</a:t>
            </a:r>
          </a:p>
          <a:p>
            <a:pPr algn="l">
              <a:lnSpc>
                <a:spcPct val="110000"/>
              </a:lnSpc>
            </a:pPr>
            <a:r>
              <a:rPr lang="zh-CN" sz="1500">
                <a:solidFill>
                  <a:srgbClr val="1F2937"/>
                </a:solidFill>
                <a:latin typeface="Microsoft YaHei"/>
                <a:ea typeface="Microsoft YaHei"/>
              </a:rPr>
              <a:t>• 院内合规可控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7F9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00" name="Shape 900"/>
          <p:cNvSpPr txBox="1"/>
          <p:nvPr/>
        </p:nvSpPr>
        <p:spPr>
          <a:xfrm>
            <a:off x="411480" y="256032"/>
            <a:ext cx="164592" cy="411480"/>
          </a:xfrm>
          <a:prstGeom prst="rect">
            <a:avLst/>
          </a:prstGeom>
          <a:solidFill>
            <a:srgbClr val="1677FF"/>
          </a:solidFill>
          <a:ln>
            <a:noFill/>
          </a:ln>
        </p:spPr>
        <p:txBody>
          <a:bodyPr/>
          <a:lstStyle/>
          <a:p/>
        </p:txBody>
      </p:sp>
      <p:sp>
        <p:nvSpPr>
          <p:cNvPr id="901" name="Shape 901"/>
          <p:cNvSpPr txBox="1"/>
          <p:nvPr/>
        </p:nvSpPr>
        <p:spPr>
          <a:xfrm>
            <a:off x="658368" y="201168"/>
            <a:ext cx="8046720" cy="411480"/>
          </a:xfrm>
          <a:prstGeom prst="roundRect">
            <a:avLst/>
          </a:prstGeom>
          <a:noFill/>
          <a:ln>
            <a:noFill/>
          </a:ln>
        </p:spPr>
        <p:txBody>
          <a:bodyPr wrap="square" lIns="91440" tIns="45720" rIns="91440" bIns="45720"/>
          <a:lstStyle/>
          <a:p>
            <a:pPr algn="l">
              <a:lnSpc>
                <a:spcPct val="110000"/>
              </a:lnSpc>
            </a:pPr>
            <a:r>
              <a:rPr lang="zh-CN" sz="2500" b="1">
                <a:solidFill>
                  <a:srgbClr val="111827"/>
                </a:solidFill>
                <a:latin typeface="Microsoft YaHei"/>
                <a:ea typeface="Microsoft YaHei"/>
              </a:rPr>
              <a:t>部署与合规</a:t>
            </a:r>
          </a:p>
        </p:txBody>
      </p:sp>
      <p:sp>
        <p:nvSpPr>
          <p:cNvPr id="902" name="Shape 902"/>
          <p:cNvSpPr txBox="1"/>
          <p:nvPr/>
        </p:nvSpPr>
        <p:spPr>
          <a:xfrm>
            <a:off x="658368" y="621792"/>
            <a:ext cx="9601200" cy="320040"/>
          </a:xfrm>
          <a:prstGeom prst="roundRect">
            <a:avLst/>
          </a:prstGeom>
          <a:noFill/>
          <a:ln>
            <a:noFill/>
          </a:ln>
        </p:spPr>
        <p:txBody>
          <a:bodyPr wrap="square" lIns="91440" tIns="45720" rIns="91440" bIns="45720"/>
          <a:lstStyle/>
          <a:p>
            <a:pPr algn="l">
              <a:lnSpc>
                <a:spcPct val="110000"/>
              </a:lnSpc>
            </a:pPr>
            <a:r>
              <a:rPr lang="zh-CN" sz="1100">
                <a:solidFill>
                  <a:srgbClr val="6B7280"/>
                </a:solidFill>
                <a:latin typeface="Microsoft YaHei"/>
                <a:ea typeface="Microsoft YaHei"/>
              </a:rPr>
              <a:t>先轻量验证价值，再按医院要求接入院内数据</a:t>
            </a:r>
          </a:p>
        </p:txBody>
      </p:sp>
      <p:sp>
        <p:nvSpPr>
          <p:cNvPr id="10" name="Shape 10"/>
          <p:cNvSpPr txBox="1"/>
          <p:nvPr/>
        </p:nvSpPr>
        <p:spPr>
          <a:xfrm>
            <a:off x="822960" y="1097280"/>
            <a:ext cx="2926080" cy="420624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5E7EB"/>
            </a:solidFill>
          </a:ln>
        </p:spPr>
        <p:txBody>
          <a:bodyPr wrap="square" lIns="91440" tIns="45720" rIns="91440" bIns="45720"/>
          <a:lstStyle/>
          <a:p>
            <a:pPr algn="l">
              <a:lnSpc>
                <a:spcPct val="110000"/>
              </a:lnSpc>
            </a:pPr>
            <a:r>
              <a:rPr lang="zh-CN" sz="1600">
                <a:solidFill>
                  <a:srgbClr val="1F2937"/>
                </a:solidFill>
                <a:latin typeface="Microsoft YaHei"/>
                <a:ea typeface="Microsoft YaHei"/>
              </a:rPr>
              <a:t>第一阶段</a:t>
            </a:r>
          </a:p>
          <a:p>
            <a:pPr algn="l">
              <a:lnSpc>
                <a:spcPct val="110000"/>
              </a:lnSpc>
            </a:pPr>
            <a:r>
              <a:rPr lang="zh-CN" sz="1600">
                <a:solidFill>
                  <a:srgbClr val="1F2937"/>
                </a:solidFill>
                <a:latin typeface="Microsoft YaHei"/>
                <a:ea typeface="Microsoft YaHei"/>
              </a:rPr>
              <a:t>公开文献 + 上传资料</a:t>
            </a:r>
          </a:p>
          <a:p>
            <a:pPr algn="l">
              <a:lnSpc>
                <a:spcPct val="110000"/>
              </a:lnSpc>
            </a:pPr>
            <a:r>
              <a:rPr lang="zh-CN" sz="1600">
                <a:solidFill>
                  <a:srgbClr val="1F2937"/>
                </a:solidFill>
                <a:latin typeface="Microsoft YaHei"/>
                <a:ea typeface="Microsoft YaHei"/>
              </a:rPr>
              <a:t/>
            </a:r>
          </a:p>
          <a:p>
            <a:pPr algn="l">
              <a:lnSpc>
                <a:spcPct val="110000"/>
              </a:lnSpc>
            </a:pPr>
            <a:r>
              <a:rPr lang="zh-CN" sz="1600">
                <a:solidFill>
                  <a:srgbClr val="1F2937"/>
                </a:solidFill>
                <a:latin typeface="Microsoft YaHei"/>
                <a:ea typeface="Microsoft YaHei"/>
              </a:rPr>
              <a:t>• 无需接 HIS</a:t>
            </a:r>
          </a:p>
          <a:p>
            <a:pPr algn="l">
              <a:lnSpc>
                <a:spcPct val="110000"/>
              </a:lnSpc>
            </a:pPr>
            <a:r>
              <a:rPr lang="zh-CN" sz="1600">
                <a:solidFill>
                  <a:srgbClr val="1F2937"/>
                </a:solidFill>
                <a:latin typeface="Microsoft YaHei"/>
                <a:ea typeface="Microsoft YaHei"/>
              </a:rPr>
              <a:t>• 快速验证价值</a:t>
            </a:r>
          </a:p>
          <a:p>
            <a:pPr algn="l">
              <a:lnSpc>
                <a:spcPct val="110000"/>
              </a:lnSpc>
            </a:pPr>
            <a:r>
              <a:rPr lang="zh-CN" sz="1600">
                <a:solidFill>
                  <a:srgbClr val="1F2937"/>
                </a:solidFill>
                <a:latin typeface="Microsoft YaHei"/>
                <a:ea typeface="Microsoft YaHei"/>
              </a:rPr>
              <a:t>• 科室级应用验证</a:t>
            </a:r>
          </a:p>
        </p:txBody>
      </p:sp>
      <p:sp>
        <p:nvSpPr>
          <p:cNvPr id="20" name="Shape 20"/>
          <p:cNvSpPr txBox="1"/>
          <p:nvPr/>
        </p:nvSpPr>
        <p:spPr>
          <a:xfrm>
            <a:off x="4114800" y="1097280"/>
            <a:ext cx="2926080" cy="420624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5E7EB"/>
            </a:solidFill>
          </a:ln>
        </p:spPr>
        <p:txBody>
          <a:bodyPr wrap="square" lIns="91440" tIns="45720" rIns="91440" bIns="45720"/>
          <a:lstStyle/>
          <a:p>
            <a:pPr algn="l">
              <a:lnSpc>
                <a:spcPct val="110000"/>
              </a:lnSpc>
            </a:pPr>
            <a:r>
              <a:rPr lang="zh-CN" sz="1600">
                <a:solidFill>
                  <a:srgbClr val="1F2937"/>
                </a:solidFill>
                <a:latin typeface="Microsoft YaHei"/>
                <a:ea typeface="Microsoft YaHei"/>
              </a:rPr>
              <a:t>第二阶段</a:t>
            </a:r>
          </a:p>
          <a:p>
            <a:pPr algn="l">
              <a:lnSpc>
                <a:spcPct val="110000"/>
              </a:lnSpc>
            </a:pPr>
            <a:r>
              <a:rPr lang="zh-CN" sz="1600">
                <a:solidFill>
                  <a:srgbClr val="1F2937"/>
                </a:solidFill>
                <a:latin typeface="Microsoft YaHei"/>
                <a:ea typeface="Microsoft YaHei"/>
              </a:rPr>
              <a:t>院内私有化部署</a:t>
            </a:r>
          </a:p>
          <a:p>
            <a:pPr algn="l">
              <a:lnSpc>
                <a:spcPct val="110000"/>
              </a:lnSpc>
            </a:pPr>
            <a:r>
              <a:rPr lang="zh-CN" sz="1600">
                <a:solidFill>
                  <a:srgbClr val="1F2937"/>
                </a:solidFill>
                <a:latin typeface="Microsoft YaHei"/>
                <a:ea typeface="Microsoft YaHei"/>
              </a:rPr>
              <a:t/>
            </a:r>
          </a:p>
          <a:p>
            <a:pPr algn="l">
              <a:lnSpc>
                <a:spcPct val="110000"/>
              </a:lnSpc>
            </a:pPr>
            <a:r>
              <a:rPr lang="zh-CN" sz="1600">
                <a:solidFill>
                  <a:srgbClr val="1F2937"/>
                </a:solidFill>
                <a:latin typeface="Microsoft YaHei"/>
                <a:ea typeface="Microsoft YaHei"/>
              </a:rPr>
              <a:t>• 访问控制</a:t>
            </a:r>
          </a:p>
          <a:p>
            <a:pPr algn="l">
              <a:lnSpc>
                <a:spcPct val="110000"/>
              </a:lnSpc>
            </a:pPr>
            <a:r>
              <a:rPr lang="zh-CN" sz="1600">
                <a:solidFill>
                  <a:srgbClr val="1F2937"/>
                </a:solidFill>
                <a:latin typeface="Microsoft YaHei"/>
                <a:ea typeface="Microsoft YaHei"/>
              </a:rPr>
              <a:t>• 审计日志</a:t>
            </a:r>
          </a:p>
          <a:p>
            <a:pPr algn="l">
              <a:lnSpc>
                <a:spcPct val="110000"/>
              </a:lnSpc>
            </a:pPr>
            <a:r>
              <a:rPr lang="zh-CN" sz="1600">
                <a:solidFill>
                  <a:srgbClr val="1F2937"/>
                </a:solidFill>
                <a:latin typeface="Microsoft YaHei"/>
                <a:ea typeface="Microsoft YaHei"/>
              </a:rPr>
              <a:t>• 数据隔离</a:t>
            </a:r>
          </a:p>
          <a:p>
            <a:pPr algn="l">
              <a:lnSpc>
                <a:spcPct val="110000"/>
              </a:lnSpc>
            </a:pPr>
            <a:r>
              <a:rPr lang="zh-CN" sz="1600">
                <a:solidFill>
                  <a:srgbClr val="1F2937"/>
                </a:solidFill>
                <a:latin typeface="Microsoft YaHei"/>
                <a:ea typeface="Microsoft YaHei"/>
              </a:rPr>
              <a:t>• 模型网关</a:t>
            </a:r>
          </a:p>
        </p:txBody>
      </p:sp>
      <p:sp>
        <p:nvSpPr>
          <p:cNvPr id="30" name="Shape 30"/>
          <p:cNvSpPr txBox="1"/>
          <p:nvPr/>
        </p:nvSpPr>
        <p:spPr>
          <a:xfrm>
            <a:off x="7406640" y="1097280"/>
            <a:ext cx="2926080" cy="420624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5E7EB"/>
            </a:solidFill>
          </a:ln>
        </p:spPr>
        <p:txBody>
          <a:bodyPr wrap="square" lIns="91440" tIns="45720" rIns="91440" bIns="45720"/>
          <a:lstStyle/>
          <a:p>
            <a:pPr algn="l">
              <a:lnSpc>
                <a:spcPct val="110000"/>
              </a:lnSpc>
            </a:pPr>
            <a:r>
              <a:rPr lang="zh-CN" sz="1600">
                <a:solidFill>
                  <a:srgbClr val="1F2937"/>
                </a:solidFill>
                <a:latin typeface="Microsoft YaHei"/>
                <a:ea typeface="Microsoft YaHei"/>
              </a:rPr>
              <a:t>第三阶段</a:t>
            </a:r>
          </a:p>
          <a:p>
            <a:pPr algn="l">
              <a:lnSpc>
                <a:spcPct val="110000"/>
              </a:lnSpc>
            </a:pPr>
            <a:r>
              <a:rPr lang="zh-CN" sz="1600">
                <a:solidFill>
                  <a:srgbClr val="1F2937"/>
                </a:solidFill>
                <a:latin typeface="Microsoft YaHei"/>
                <a:ea typeface="Microsoft YaHei"/>
              </a:rPr>
              <a:t>科研数据治理</a:t>
            </a:r>
          </a:p>
          <a:p>
            <a:pPr algn="l">
              <a:lnSpc>
                <a:spcPct val="110000"/>
              </a:lnSpc>
            </a:pPr>
            <a:r>
              <a:rPr lang="zh-CN" sz="1600">
                <a:solidFill>
                  <a:srgbClr val="1F2937"/>
                </a:solidFill>
                <a:latin typeface="Microsoft YaHei"/>
                <a:ea typeface="Microsoft YaHei"/>
              </a:rPr>
              <a:t/>
            </a:r>
          </a:p>
          <a:p>
            <a:pPr algn="l">
              <a:lnSpc>
                <a:spcPct val="110000"/>
              </a:lnSpc>
            </a:pPr>
            <a:r>
              <a:rPr lang="zh-CN" sz="1600">
                <a:solidFill>
                  <a:srgbClr val="1F2937"/>
                </a:solidFill>
                <a:latin typeface="Microsoft YaHei"/>
                <a:ea typeface="Microsoft YaHei"/>
              </a:rPr>
              <a:t>• 病例抽取</a:t>
            </a:r>
          </a:p>
          <a:p>
            <a:pPr algn="l">
              <a:lnSpc>
                <a:spcPct val="110000"/>
              </a:lnSpc>
            </a:pPr>
            <a:r>
              <a:rPr lang="zh-CN" sz="1600">
                <a:solidFill>
                  <a:srgbClr val="1F2937"/>
                </a:solidFill>
                <a:latin typeface="Microsoft YaHei"/>
                <a:ea typeface="Microsoft YaHei"/>
              </a:rPr>
              <a:t>• 队列构建</a:t>
            </a:r>
          </a:p>
          <a:p>
            <a:pPr algn="l">
              <a:lnSpc>
                <a:spcPct val="110000"/>
              </a:lnSpc>
            </a:pPr>
            <a:r>
              <a:rPr lang="zh-CN" sz="1600">
                <a:solidFill>
                  <a:srgbClr val="1F2937"/>
                </a:solidFill>
                <a:latin typeface="Microsoft YaHei"/>
                <a:ea typeface="Microsoft YaHei"/>
              </a:rPr>
              <a:t>• CRF/数据字典</a:t>
            </a:r>
          </a:p>
          <a:p>
            <a:pPr algn="l">
              <a:lnSpc>
                <a:spcPct val="110000"/>
              </a:lnSpc>
            </a:pPr>
            <a:r>
              <a:rPr lang="zh-CN" sz="1600">
                <a:solidFill>
                  <a:srgbClr val="1F2937"/>
                </a:solidFill>
                <a:latin typeface="Microsoft YaHei"/>
                <a:ea typeface="Microsoft YaHei"/>
              </a:rPr>
              <a:t>• 研究型病房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7F9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00" name="Shape 900"/>
          <p:cNvSpPr txBox="1"/>
          <p:nvPr/>
        </p:nvSpPr>
        <p:spPr>
          <a:xfrm>
            <a:off x="411480" y="256032"/>
            <a:ext cx="164592" cy="411480"/>
          </a:xfrm>
          <a:prstGeom prst="rect">
            <a:avLst/>
          </a:prstGeom>
          <a:solidFill>
            <a:srgbClr val="1677FF"/>
          </a:solidFill>
          <a:ln>
            <a:noFill/>
          </a:ln>
        </p:spPr>
        <p:txBody>
          <a:bodyPr/>
          <a:lstStyle/>
          <a:p/>
        </p:txBody>
      </p:sp>
      <p:sp>
        <p:nvSpPr>
          <p:cNvPr id="901" name="Shape 901"/>
          <p:cNvSpPr txBox="1"/>
          <p:nvPr/>
        </p:nvSpPr>
        <p:spPr>
          <a:xfrm>
            <a:off x="658368" y="201168"/>
            <a:ext cx="8046720" cy="411480"/>
          </a:xfrm>
          <a:prstGeom prst="roundRect">
            <a:avLst/>
          </a:prstGeom>
          <a:noFill/>
          <a:ln>
            <a:noFill/>
          </a:ln>
        </p:spPr>
        <p:txBody>
          <a:bodyPr wrap="square" lIns="91440" tIns="45720" rIns="91440" bIns="45720"/>
          <a:lstStyle/>
          <a:p>
            <a:pPr algn="l">
              <a:lnSpc>
                <a:spcPct val="110000"/>
              </a:lnSpc>
            </a:pPr>
            <a:r>
              <a:rPr lang="zh-CN" sz="2500" b="1">
                <a:solidFill>
                  <a:srgbClr val="111827"/>
                </a:solidFill>
                <a:latin typeface="Microsoft YaHei"/>
                <a:ea typeface="Microsoft YaHei"/>
              </a:rPr>
              <a:t>落地路径</a:t>
            </a:r>
          </a:p>
        </p:txBody>
      </p:sp>
      <p:sp>
        <p:nvSpPr>
          <p:cNvPr id="902" name="Shape 902"/>
          <p:cNvSpPr txBox="1"/>
          <p:nvPr/>
        </p:nvSpPr>
        <p:spPr>
          <a:xfrm>
            <a:off x="658368" y="621792"/>
            <a:ext cx="9601200" cy="320040"/>
          </a:xfrm>
          <a:prstGeom prst="roundRect">
            <a:avLst/>
          </a:prstGeom>
          <a:noFill/>
          <a:ln>
            <a:noFill/>
          </a:ln>
        </p:spPr>
        <p:txBody>
          <a:bodyPr wrap="square" lIns="91440" tIns="45720" rIns="91440" bIns="45720"/>
          <a:lstStyle/>
          <a:p>
            <a:pPr algn="l">
              <a:lnSpc>
                <a:spcPct val="110000"/>
              </a:lnSpc>
            </a:pPr>
            <a:r>
              <a:rPr lang="zh-CN" sz="1100">
                <a:solidFill>
                  <a:srgbClr val="6B7280"/>
                </a:solidFill>
                <a:latin typeface="Microsoft YaHei"/>
                <a:ea typeface="Microsoft YaHei"/>
              </a:rPr>
              <a:t>从高频科研场景切入，让医生先看到明确收益</a:t>
            </a:r>
          </a:p>
        </p:txBody>
      </p:sp>
      <p:sp>
        <p:nvSpPr>
          <p:cNvPr id="10" name="Shape 10"/>
          <p:cNvSpPr txBox="1"/>
          <p:nvPr/>
        </p:nvSpPr>
        <p:spPr>
          <a:xfrm>
            <a:off x="822960" y="1005840"/>
            <a:ext cx="2331720" cy="41148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5E7EB"/>
            </a:solidFill>
          </a:ln>
        </p:spPr>
        <p:txBody>
          <a:bodyPr wrap="square" lIns="91440" tIns="45720" rIns="91440" bIns="45720"/>
          <a:lstStyle/>
          <a:p>
            <a:pPr algn="l">
              <a:lnSpc>
                <a:spcPct val="110000"/>
              </a:lnSpc>
            </a:pPr>
            <a:r>
              <a:rPr lang="zh-CN" sz="1600">
                <a:solidFill>
                  <a:srgbClr val="1F2937"/>
                </a:solidFill>
                <a:latin typeface="Microsoft YaHei"/>
                <a:ea typeface="Microsoft YaHei"/>
              </a:rPr>
              <a:t>适用科室</a:t>
            </a:r>
          </a:p>
          <a:p>
            <a:pPr algn="l">
              <a:lnSpc>
                <a:spcPct val="110000"/>
              </a:lnSpc>
            </a:pPr>
            <a:r>
              <a:rPr lang="zh-CN" sz="1600">
                <a:solidFill>
                  <a:srgbClr val="1F2937"/>
                </a:solidFill>
                <a:latin typeface="Microsoft YaHei"/>
                <a:ea typeface="Microsoft YaHei"/>
              </a:rPr>
              <a:t/>
            </a:r>
          </a:p>
          <a:p>
            <a:pPr algn="l">
              <a:lnSpc>
                <a:spcPct val="110000"/>
              </a:lnSpc>
            </a:pPr>
            <a:r>
              <a:rPr lang="zh-CN" sz="1600">
                <a:solidFill>
                  <a:srgbClr val="1F2937"/>
                </a:solidFill>
                <a:latin typeface="Microsoft YaHei"/>
                <a:ea typeface="Microsoft YaHei"/>
              </a:rPr>
              <a:t>• 心血管</a:t>
            </a:r>
          </a:p>
          <a:p>
            <a:pPr algn="l">
              <a:lnSpc>
                <a:spcPct val="110000"/>
              </a:lnSpc>
            </a:pPr>
            <a:r>
              <a:rPr lang="zh-CN" sz="1600">
                <a:solidFill>
                  <a:srgbClr val="1F2937"/>
                </a:solidFill>
                <a:latin typeface="Microsoft YaHei"/>
                <a:ea typeface="Microsoft YaHei"/>
              </a:rPr>
              <a:t>• 肿瘤</a:t>
            </a:r>
          </a:p>
          <a:p>
            <a:pPr algn="l">
              <a:lnSpc>
                <a:spcPct val="110000"/>
              </a:lnSpc>
            </a:pPr>
            <a:r>
              <a:rPr lang="zh-CN" sz="1600">
                <a:solidFill>
                  <a:srgbClr val="1F2937"/>
                </a:solidFill>
                <a:latin typeface="Microsoft YaHei"/>
                <a:ea typeface="Microsoft YaHei"/>
              </a:rPr>
              <a:t>• 神经内科</a:t>
            </a:r>
          </a:p>
          <a:p>
            <a:pPr algn="l">
              <a:lnSpc>
                <a:spcPct val="110000"/>
              </a:lnSpc>
            </a:pPr>
            <a:r>
              <a:rPr lang="zh-CN" sz="1600">
                <a:solidFill>
                  <a:srgbClr val="1F2937"/>
                </a:solidFill>
                <a:latin typeface="Microsoft YaHei"/>
                <a:ea typeface="Microsoft YaHei"/>
              </a:rPr>
              <a:t>• 呼吸</a:t>
            </a:r>
          </a:p>
          <a:p>
            <a:pPr algn="l">
              <a:lnSpc>
                <a:spcPct val="110000"/>
              </a:lnSpc>
            </a:pPr>
            <a:r>
              <a:rPr lang="zh-CN" sz="1600">
                <a:solidFill>
                  <a:srgbClr val="1F2937"/>
                </a:solidFill>
                <a:latin typeface="Microsoft YaHei"/>
                <a:ea typeface="Microsoft YaHei"/>
              </a:rPr>
              <a:t>• 内分泌</a:t>
            </a:r>
          </a:p>
          <a:p>
            <a:pPr algn="l">
              <a:lnSpc>
                <a:spcPct val="110000"/>
              </a:lnSpc>
            </a:pPr>
            <a:r>
              <a:rPr lang="zh-CN" sz="1600">
                <a:solidFill>
                  <a:srgbClr val="1F2937"/>
                </a:solidFill>
                <a:latin typeface="Microsoft YaHei"/>
                <a:ea typeface="Microsoft YaHei"/>
              </a:rPr>
              <a:t>• 药学/检验</a:t>
            </a:r>
          </a:p>
        </p:txBody>
      </p:sp>
      <p:sp>
        <p:nvSpPr>
          <p:cNvPr id="20" name="Shape 20"/>
          <p:cNvSpPr txBox="1"/>
          <p:nvPr/>
        </p:nvSpPr>
        <p:spPr>
          <a:xfrm>
            <a:off x="3429000" y="1005840"/>
            <a:ext cx="2331720" cy="41148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5E7EB"/>
            </a:solidFill>
          </a:ln>
        </p:spPr>
        <p:txBody>
          <a:bodyPr wrap="square" lIns="91440" tIns="45720" rIns="91440" bIns="45720"/>
          <a:lstStyle/>
          <a:p>
            <a:pPr algn="l">
              <a:lnSpc>
                <a:spcPct val="110000"/>
              </a:lnSpc>
            </a:pPr>
            <a:r>
              <a:rPr lang="zh-CN" sz="1500">
                <a:solidFill>
                  <a:srgbClr val="1F2937"/>
                </a:solidFill>
                <a:latin typeface="Microsoft YaHei"/>
                <a:ea typeface="Microsoft YaHei"/>
              </a:rPr>
              <a:t>使用周期</a:t>
            </a:r>
          </a:p>
          <a:p>
            <a:pPr algn="l">
              <a:lnSpc>
                <a:spcPct val="110000"/>
              </a:lnSpc>
            </a:pPr>
            <a:r>
              <a:rPr lang="zh-CN" sz="1500">
                <a:solidFill>
                  <a:srgbClr val="1F2937"/>
                </a:solidFill>
                <a:latin typeface="Microsoft YaHei"/>
                <a:ea typeface="Microsoft YaHei"/>
              </a:rPr>
              <a:t/>
            </a:r>
          </a:p>
          <a:p>
            <a:pPr algn="l">
              <a:lnSpc>
                <a:spcPct val="110000"/>
              </a:lnSpc>
            </a:pPr>
            <a:r>
              <a:rPr lang="zh-CN" sz="1500">
                <a:solidFill>
                  <a:srgbClr val="1F2937"/>
                </a:solidFill>
                <a:latin typeface="Microsoft YaHei"/>
                <a:ea typeface="Microsoft YaHei"/>
              </a:rPr>
              <a:t>4-8 周即可形成初步资产</a:t>
            </a:r>
          </a:p>
          <a:p>
            <a:pPr algn="l">
              <a:lnSpc>
                <a:spcPct val="110000"/>
              </a:lnSpc>
            </a:pPr>
            <a:r>
              <a:rPr lang="zh-CN" sz="1500">
                <a:solidFill>
                  <a:srgbClr val="1F2937"/>
                </a:solidFill>
                <a:latin typeface="Microsoft YaHei"/>
                <a:ea typeface="Microsoft YaHei"/>
              </a:rPr>
              <a:t/>
            </a:r>
          </a:p>
          <a:p>
            <a:pPr algn="l">
              <a:lnSpc>
                <a:spcPct val="110000"/>
              </a:lnSpc>
            </a:pPr>
            <a:r>
              <a:rPr lang="zh-CN" sz="1500">
                <a:solidFill>
                  <a:srgbClr val="1F2937"/>
                </a:solidFill>
                <a:latin typeface="Microsoft YaHei"/>
                <a:ea typeface="Microsoft YaHei"/>
              </a:rPr>
              <a:t>• 配置关注点</a:t>
            </a:r>
          </a:p>
          <a:p>
            <a:pPr algn="l">
              <a:lnSpc>
                <a:spcPct val="110000"/>
              </a:lnSpc>
            </a:pPr>
            <a:r>
              <a:rPr lang="zh-CN" sz="1500">
                <a:solidFill>
                  <a:srgbClr val="1F2937"/>
                </a:solidFill>
                <a:latin typeface="Microsoft YaHei"/>
                <a:ea typeface="Microsoft YaHei"/>
              </a:rPr>
              <a:t>• 建知识库</a:t>
            </a:r>
          </a:p>
          <a:p>
            <a:pPr algn="l">
              <a:lnSpc>
                <a:spcPct val="110000"/>
              </a:lnSpc>
            </a:pPr>
            <a:r>
              <a:rPr lang="zh-CN" sz="1500">
                <a:solidFill>
                  <a:srgbClr val="1F2937"/>
                </a:solidFill>
                <a:latin typeface="Microsoft YaHei"/>
                <a:ea typeface="Microsoft YaHei"/>
              </a:rPr>
              <a:t>• 沉淀精读卡片</a:t>
            </a:r>
          </a:p>
          <a:p>
            <a:pPr algn="l">
              <a:lnSpc>
                <a:spcPct val="110000"/>
              </a:lnSpc>
            </a:pPr>
            <a:r>
              <a:rPr lang="zh-CN" sz="1500">
                <a:solidFill>
                  <a:srgbClr val="1F2937"/>
                </a:solidFill>
                <a:latin typeface="Microsoft YaHei"/>
                <a:ea typeface="Microsoft YaHei"/>
              </a:rPr>
              <a:t>• 形成选题和草稿</a:t>
            </a:r>
          </a:p>
        </p:txBody>
      </p:sp>
      <p:sp>
        <p:nvSpPr>
          <p:cNvPr id="30" name="Shape 30"/>
          <p:cNvSpPr txBox="1"/>
          <p:nvPr/>
        </p:nvSpPr>
        <p:spPr>
          <a:xfrm>
            <a:off x="6035040" y="1005840"/>
            <a:ext cx="2331720" cy="41148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5E7EB"/>
            </a:solidFill>
          </a:ln>
        </p:spPr>
        <p:txBody>
          <a:bodyPr wrap="square" lIns="91440" tIns="45720" rIns="91440" bIns="45720"/>
          <a:lstStyle/>
          <a:p>
            <a:pPr algn="l">
              <a:lnSpc>
                <a:spcPct val="110000"/>
              </a:lnSpc>
            </a:pPr>
            <a:r>
              <a:rPr lang="zh-CN" sz="1600">
                <a:solidFill>
                  <a:srgbClr val="1F2937"/>
                </a:solidFill>
                <a:latin typeface="Microsoft YaHei"/>
                <a:ea typeface="Microsoft YaHei"/>
              </a:rPr>
              <a:t>价值指标</a:t>
            </a:r>
          </a:p>
          <a:p>
            <a:pPr algn="l">
              <a:lnSpc>
                <a:spcPct val="110000"/>
              </a:lnSpc>
            </a:pPr>
            <a:r>
              <a:rPr lang="zh-CN" sz="1600">
                <a:solidFill>
                  <a:srgbClr val="1F2937"/>
                </a:solidFill>
                <a:latin typeface="Microsoft YaHei"/>
                <a:ea typeface="Microsoft YaHei"/>
              </a:rPr>
              <a:t/>
            </a:r>
          </a:p>
          <a:p>
            <a:pPr algn="l">
              <a:lnSpc>
                <a:spcPct val="110000"/>
              </a:lnSpc>
            </a:pPr>
            <a:r>
              <a:rPr lang="zh-CN" sz="1600">
                <a:solidFill>
                  <a:srgbClr val="1F2937"/>
                </a:solidFill>
                <a:latin typeface="Microsoft YaHei"/>
                <a:ea typeface="Microsoft YaHei"/>
              </a:rPr>
              <a:t>• 新论文发现量</a:t>
            </a:r>
          </a:p>
          <a:p>
            <a:pPr algn="l">
              <a:lnSpc>
                <a:spcPct val="110000"/>
              </a:lnSpc>
            </a:pPr>
            <a:r>
              <a:rPr lang="zh-CN" sz="1600">
                <a:solidFill>
                  <a:srgbClr val="1F2937"/>
                </a:solidFill>
                <a:latin typeface="Microsoft YaHei"/>
                <a:ea typeface="Microsoft YaHei"/>
              </a:rPr>
              <a:t>• 精读节省时间</a:t>
            </a:r>
          </a:p>
          <a:p>
            <a:pPr algn="l">
              <a:lnSpc>
                <a:spcPct val="110000"/>
              </a:lnSpc>
            </a:pPr>
            <a:r>
              <a:rPr lang="zh-CN" sz="1600">
                <a:solidFill>
                  <a:srgbClr val="1F2937"/>
                </a:solidFill>
                <a:latin typeface="Microsoft YaHei"/>
                <a:ea typeface="Microsoft YaHei"/>
              </a:rPr>
              <a:t>• 草稿产出数量</a:t>
            </a:r>
          </a:p>
          <a:p>
            <a:pPr algn="l">
              <a:lnSpc>
                <a:spcPct val="110000"/>
              </a:lnSpc>
            </a:pPr>
            <a:r>
              <a:rPr lang="zh-CN" sz="1600">
                <a:solidFill>
                  <a:srgbClr val="1F2937"/>
                </a:solidFill>
                <a:latin typeface="Microsoft YaHei"/>
                <a:ea typeface="Microsoft YaHei"/>
              </a:rPr>
              <a:t>• 课题方向数量</a:t>
            </a:r>
          </a:p>
        </p:txBody>
      </p:sp>
      <p:sp>
        <p:nvSpPr>
          <p:cNvPr id="40" name="Shape 40"/>
          <p:cNvSpPr txBox="1"/>
          <p:nvPr/>
        </p:nvSpPr>
        <p:spPr>
          <a:xfrm>
            <a:off x="8641080" y="1005840"/>
            <a:ext cx="2331720" cy="41148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5E7EB"/>
            </a:solidFill>
          </a:ln>
        </p:spPr>
        <p:txBody>
          <a:bodyPr wrap="square" lIns="91440" tIns="45720" rIns="91440" bIns="45720"/>
          <a:lstStyle/>
          <a:p>
            <a:pPr algn="l">
              <a:lnSpc>
                <a:spcPct val="110000"/>
              </a:lnSpc>
            </a:pPr>
            <a:r>
              <a:rPr lang="zh-CN" sz="1600">
                <a:solidFill>
                  <a:srgbClr val="1F2937"/>
                </a:solidFill>
                <a:latin typeface="Microsoft YaHei"/>
                <a:ea typeface="Microsoft YaHei"/>
              </a:rPr>
              <a:t>扩展路径</a:t>
            </a:r>
          </a:p>
          <a:p>
            <a:pPr algn="l">
              <a:lnSpc>
                <a:spcPct val="110000"/>
              </a:lnSpc>
            </a:pPr>
            <a:r>
              <a:rPr lang="zh-CN" sz="1600">
                <a:solidFill>
                  <a:srgbClr val="1F2937"/>
                </a:solidFill>
                <a:latin typeface="Microsoft YaHei"/>
                <a:ea typeface="Microsoft YaHei"/>
              </a:rPr>
              <a:t/>
            </a:r>
          </a:p>
          <a:p>
            <a:pPr algn="l">
              <a:lnSpc>
                <a:spcPct val="110000"/>
              </a:lnSpc>
            </a:pPr>
            <a:r>
              <a:rPr lang="zh-CN" sz="1600">
                <a:solidFill>
                  <a:srgbClr val="1F2937"/>
                </a:solidFill>
                <a:latin typeface="Microsoft YaHei"/>
                <a:ea typeface="Microsoft YaHei"/>
              </a:rPr>
              <a:t>科室应用 → 多科室复制 → 科研处平台 → 院内数据接入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7F9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00" name="Shape 900"/>
          <p:cNvSpPr txBox="1"/>
          <p:nvPr/>
        </p:nvSpPr>
        <p:spPr>
          <a:xfrm>
            <a:off x="411480" y="256032"/>
            <a:ext cx="164592" cy="411480"/>
          </a:xfrm>
          <a:prstGeom prst="rect">
            <a:avLst/>
          </a:prstGeom>
          <a:solidFill>
            <a:srgbClr val="1677FF"/>
          </a:solidFill>
          <a:ln>
            <a:noFill/>
          </a:ln>
        </p:spPr>
        <p:txBody>
          <a:bodyPr/>
          <a:lstStyle/>
          <a:p/>
        </p:txBody>
      </p:sp>
      <p:sp>
        <p:nvSpPr>
          <p:cNvPr id="901" name="Shape 901"/>
          <p:cNvSpPr txBox="1"/>
          <p:nvPr/>
        </p:nvSpPr>
        <p:spPr>
          <a:xfrm>
            <a:off x="658368" y="201168"/>
            <a:ext cx="8046720" cy="411480"/>
          </a:xfrm>
          <a:prstGeom prst="roundRect">
            <a:avLst/>
          </a:prstGeom>
          <a:noFill/>
          <a:ln>
            <a:noFill/>
          </a:ln>
        </p:spPr>
        <p:txBody>
          <a:bodyPr wrap="square" lIns="91440" tIns="45720" rIns="91440" bIns="45720"/>
          <a:lstStyle/>
          <a:p>
            <a:pPr algn="l">
              <a:lnSpc>
                <a:spcPct val="110000"/>
              </a:lnSpc>
            </a:pPr>
            <a:r>
              <a:rPr lang="zh-CN" sz="2500" b="1">
                <a:solidFill>
                  <a:srgbClr val="111827"/>
                </a:solidFill>
                <a:latin typeface="Microsoft YaHei"/>
                <a:ea typeface="Microsoft YaHei"/>
              </a:rPr>
              <a:t>产品路线图</a:t>
            </a:r>
          </a:p>
        </p:txBody>
      </p:sp>
      <p:sp>
        <p:nvSpPr>
          <p:cNvPr id="902" name="Shape 902"/>
          <p:cNvSpPr txBox="1"/>
          <p:nvPr/>
        </p:nvSpPr>
        <p:spPr>
          <a:xfrm>
            <a:off x="658368" y="621792"/>
            <a:ext cx="9601200" cy="320040"/>
          </a:xfrm>
          <a:prstGeom prst="roundRect">
            <a:avLst/>
          </a:prstGeom>
          <a:noFill/>
          <a:ln>
            <a:noFill/>
          </a:ln>
        </p:spPr>
        <p:txBody>
          <a:bodyPr wrap="square" lIns="91440" tIns="45720" rIns="91440" bIns="45720"/>
          <a:lstStyle/>
          <a:p>
            <a:pPr algn="l">
              <a:lnSpc>
                <a:spcPct val="110000"/>
              </a:lnSpc>
            </a:pPr>
            <a:r>
              <a:rPr lang="zh-CN" sz="1100">
                <a:solidFill>
                  <a:srgbClr val="6B7280"/>
                </a:solidFill>
                <a:latin typeface="Microsoft YaHei"/>
                <a:ea typeface="Microsoft YaHei"/>
              </a:rPr>
              <a:t>当前版本已能演示闭环，后续围绕真实科研场景加深</a:t>
            </a:r>
          </a:p>
        </p:txBody>
      </p:sp>
      <p:sp>
        <p:nvSpPr>
          <p:cNvPr id="10" name="Shape 10"/>
          <p:cNvSpPr txBox="1"/>
          <p:nvPr/>
        </p:nvSpPr>
        <p:spPr>
          <a:xfrm>
            <a:off x="914400" y="1143000"/>
            <a:ext cx="2194560" cy="3474720"/>
          </a:xfrm>
          <a:prstGeom prst="roundRect">
            <a:avLst/>
          </a:prstGeom>
          <a:solidFill>
            <a:srgbClr val="EAF2FF"/>
          </a:solidFill>
          <a:ln w="12700">
            <a:solidFill>
              <a:srgbClr val="BBD6FF"/>
            </a:solidFill>
          </a:ln>
        </p:spPr>
        <p:txBody>
          <a:bodyPr wrap="square" lIns="91440" tIns="45720" rIns="91440" bIns="45720"/>
          <a:lstStyle/>
          <a:p>
            <a:pPr algn="l">
              <a:lnSpc>
                <a:spcPct val="110000"/>
              </a:lnSpc>
            </a:pPr>
            <a:r>
              <a:rPr lang="zh-CN" sz="1400">
                <a:solidFill>
                  <a:srgbClr val="1F2937"/>
                </a:solidFill>
                <a:latin typeface="Microsoft YaHei"/>
                <a:ea typeface="Microsoft YaHei"/>
              </a:rPr>
              <a:t>当前已具备</a:t>
            </a:r>
          </a:p>
          <a:p>
            <a:pPr algn="l">
              <a:lnSpc>
                <a:spcPct val="110000"/>
              </a:lnSpc>
            </a:pPr>
            <a:r>
              <a:rPr lang="zh-CN" sz="1400">
                <a:solidFill>
                  <a:srgbClr val="1F2937"/>
                </a:solidFill>
                <a:latin typeface="Microsoft YaHei"/>
                <a:ea typeface="Microsoft YaHei"/>
              </a:rPr>
              <a:t/>
            </a:r>
          </a:p>
          <a:p>
            <a:pPr algn="l">
              <a:lnSpc>
                <a:spcPct val="110000"/>
              </a:lnSpc>
            </a:pPr>
            <a:r>
              <a:rPr lang="zh-CN" sz="1400">
                <a:solidFill>
                  <a:srgbClr val="1F2937"/>
                </a:solidFill>
                <a:latin typeface="Microsoft YaHei"/>
                <a:ea typeface="Microsoft YaHei"/>
              </a:rPr>
              <a:t>• 前沿发现</a:t>
            </a:r>
          </a:p>
          <a:p>
            <a:pPr algn="l">
              <a:lnSpc>
                <a:spcPct val="110000"/>
              </a:lnSpc>
            </a:pPr>
            <a:r>
              <a:rPr lang="zh-CN" sz="1400">
                <a:solidFill>
                  <a:srgbClr val="1F2937"/>
                </a:solidFill>
                <a:latin typeface="Microsoft YaHei"/>
                <a:ea typeface="Microsoft YaHei"/>
              </a:rPr>
              <a:t>• 文献知识库</a:t>
            </a:r>
          </a:p>
          <a:p>
            <a:pPr algn="l">
              <a:lnSpc>
                <a:spcPct val="110000"/>
              </a:lnSpc>
            </a:pPr>
            <a:r>
              <a:rPr lang="zh-CN" sz="1400">
                <a:solidFill>
                  <a:srgbClr val="1F2937"/>
                </a:solidFill>
                <a:latin typeface="Microsoft YaHei"/>
                <a:ea typeface="Microsoft YaHei"/>
              </a:rPr>
              <a:t>• 论文鉴真</a:t>
            </a:r>
          </a:p>
          <a:p>
            <a:pPr algn="l">
              <a:lnSpc>
                <a:spcPct val="110000"/>
              </a:lnSpc>
            </a:pPr>
            <a:r>
              <a:rPr lang="zh-CN" sz="1400">
                <a:solidFill>
                  <a:srgbClr val="1F2937"/>
                </a:solidFill>
                <a:latin typeface="Microsoft YaHei"/>
                <a:ea typeface="Microsoft YaHei"/>
              </a:rPr>
              <a:t>• 精读卡片</a:t>
            </a:r>
          </a:p>
          <a:p>
            <a:pPr algn="l">
              <a:lnSpc>
                <a:spcPct val="110000"/>
              </a:lnSpc>
            </a:pPr>
            <a:r>
              <a:rPr lang="zh-CN" sz="1400">
                <a:solidFill>
                  <a:srgbClr val="1F2937"/>
                </a:solidFill>
                <a:latin typeface="Microsoft YaHei"/>
                <a:ea typeface="Microsoft YaHei"/>
              </a:rPr>
              <a:t>• AI 写作草稿</a:t>
            </a:r>
          </a:p>
          <a:p>
            <a:pPr algn="l">
              <a:lnSpc>
                <a:spcPct val="110000"/>
              </a:lnSpc>
            </a:pPr>
            <a:r>
              <a:rPr lang="zh-CN" sz="1400">
                <a:solidFill>
                  <a:srgbClr val="1F2937"/>
                </a:solidFill>
                <a:latin typeface="Microsoft YaHei"/>
                <a:ea typeface="Microsoft YaHei"/>
              </a:rPr>
              <a:t>• Word/PDF 导出</a:t>
            </a:r>
          </a:p>
          <a:p>
            <a:pPr algn="l">
              <a:lnSpc>
                <a:spcPct val="110000"/>
              </a:lnSpc>
            </a:pPr>
            <a:r>
              <a:rPr lang="zh-CN" sz="1400">
                <a:solidFill>
                  <a:srgbClr val="1F2937"/>
                </a:solidFill>
                <a:latin typeface="Microsoft YaHei"/>
                <a:ea typeface="Microsoft YaHei"/>
              </a:rPr>
              <a:t>• 病例数据集</a:t>
            </a:r>
          </a:p>
        </p:txBody>
      </p:sp>
      <p:sp>
        <p:nvSpPr>
          <p:cNvPr id="20" name="Shape 20"/>
          <p:cNvSpPr txBox="1"/>
          <p:nvPr/>
        </p:nvSpPr>
        <p:spPr>
          <a:xfrm>
            <a:off x="3429000" y="1143000"/>
            <a:ext cx="2194560" cy="3474720"/>
          </a:xfrm>
          <a:prstGeom prst="roundRect">
            <a:avLst/>
          </a:prstGeom>
          <a:solidFill>
            <a:srgbClr val="ECFDF5"/>
          </a:solidFill>
          <a:ln w="12700">
            <a:solidFill>
              <a:srgbClr val="A7F3D0"/>
            </a:solidFill>
          </a:ln>
        </p:spPr>
        <p:txBody>
          <a:bodyPr wrap="square" lIns="91440" tIns="45720" rIns="91440" bIns="45720"/>
          <a:lstStyle/>
          <a:p>
            <a:pPr algn="l">
              <a:lnSpc>
                <a:spcPct val="110000"/>
              </a:lnSpc>
            </a:pPr>
            <a:r>
              <a:rPr lang="zh-CN" sz="1400">
                <a:solidFill>
                  <a:srgbClr val="1F2937"/>
                </a:solidFill>
                <a:latin typeface="Microsoft YaHei"/>
                <a:ea typeface="Microsoft YaHei"/>
              </a:rPr>
              <a:t>近期增强</a:t>
            </a:r>
          </a:p>
          <a:p>
            <a:pPr algn="l">
              <a:lnSpc>
                <a:spcPct val="110000"/>
              </a:lnSpc>
            </a:pPr>
            <a:r>
              <a:rPr lang="zh-CN" sz="1400">
                <a:solidFill>
                  <a:srgbClr val="1F2937"/>
                </a:solidFill>
                <a:latin typeface="Microsoft YaHei"/>
                <a:ea typeface="Microsoft YaHei"/>
              </a:rPr>
              <a:t/>
            </a:r>
          </a:p>
          <a:p>
            <a:pPr algn="l">
              <a:lnSpc>
                <a:spcPct val="110000"/>
              </a:lnSpc>
            </a:pPr>
            <a:r>
              <a:rPr lang="zh-CN" sz="1400">
                <a:solidFill>
                  <a:srgbClr val="1F2937"/>
                </a:solidFill>
                <a:latin typeface="Microsoft YaHei"/>
                <a:ea typeface="Microsoft YaHei"/>
              </a:rPr>
              <a:t>• 推荐指数重构</a:t>
            </a:r>
          </a:p>
          <a:p>
            <a:pPr algn="l">
              <a:lnSpc>
                <a:spcPct val="110000"/>
              </a:lnSpc>
            </a:pPr>
            <a:r>
              <a:rPr lang="zh-CN" sz="1400">
                <a:solidFill>
                  <a:srgbClr val="1F2937"/>
                </a:solidFill>
                <a:latin typeface="Microsoft YaHei"/>
                <a:ea typeface="Microsoft YaHei"/>
              </a:rPr>
              <a:t>• AI 语义趋势</a:t>
            </a:r>
          </a:p>
          <a:p>
            <a:pPr algn="l">
              <a:lnSpc>
                <a:spcPct val="110000"/>
              </a:lnSpc>
            </a:pPr>
            <a:r>
              <a:rPr lang="zh-CN" sz="1400">
                <a:solidFill>
                  <a:srgbClr val="1F2937"/>
                </a:solidFill>
                <a:latin typeface="Microsoft YaHei"/>
                <a:ea typeface="Microsoft YaHei"/>
              </a:rPr>
              <a:t>• 引用管理</a:t>
            </a:r>
          </a:p>
          <a:p>
            <a:pPr algn="l">
              <a:lnSpc>
                <a:spcPct val="110000"/>
              </a:lnSpc>
            </a:pPr>
            <a:r>
              <a:rPr lang="zh-CN" sz="1400">
                <a:solidFill>
                  <a:srgbClr val="1F2937"/>
                </a:solidFill>
                <a:latin typeface="Microsoft YaHei"/>
                <a:ea typeface="Microsoft YaHei"/>
              </a:rPr>
              <a:t>• 伦理/标书模板</a:t>
            </a:r>
          </a:p>
          <a:p>
            <a:pPr algn="l">
              <a:lnSpc>
                <a:spcPct val="110000"/>
              </a:lnSpc>
            </a:pPr>
            <a:r>
              <a:rPr lang="zh-CN" sz="1400">
                <a:solidFill>
                  <a:srgbClr val="1F2937"/>
                </a:solidFill>
                <a:latin typeface="Microsoft YaHei"/>
                <a:ea typeface="Microsoft YaHei"/>
              </a:rPr>
              <a:t>• 统计分析计划</a:t>
            </a:r>
          </a:p>
        </p:txBody>
      </p:sp>
      <p:sp>
        <p:nvSpPr>
          <p:cNvPr id="30" name="Shape 30"/>
          <p:cNvSpPr txBox="1"/>
          <p:nvPr/>
        </p:nvSpPr>
        <p:spPr>
          <a:xfrm>
            <a:off x="5943600" y="1143000"/>
            <a:ext cx="2194560" cy="3474720"/>
          </a:xfrm>
          <a:prstGeom prst="roundRect">
            <a:avLst/>
          </a:prstGeom>
          <a:solidFill>
            <a:srgbClr val="FFF7ED"/>
          </a:solidFill>
          <a:ln w="12700">
            <a:solidFill>
              <a:srgbClr val="FED7AA"/>
            </a:solidFill>
          </a:ln>
        </p:spPr>
        <p:txBody>
          <a:bodyPr wrap="square" lIns="91440" tIns="45720" rIns="91440" bIns="45720"/>
          <a:lstStyle/>
          <a:p>
            <a:pPr algn="l">
              <a:lnSpc>
                <a:spcPct val="110000"/>
              </a:lnSpc>
            </a:pPr>
            <a:r>
              <a:rPr lang="zh-CN" sz="1400">
                <a:solidFill>
                  <a:srgbClr val="1F2937"/>
                </a:solidFill>
                <a:latin typeface="Microsoft YaHei"/>
                <a:ea typeface="Microsoft YaHei"/>
              </a:rPr>
              <a:t>科室试点</a:t>
            </a:r>
          </a:p>
          <a:p>
            <a:pPr algn="l">
              <a:lnSpc>
                <a:spcPct val="110000"/>
              </a:lnSpc>
            </a:pPr>
            <a:r>
              <a:rPr lang="zh-CN" sz="1400">
                <a:solidFill>
                  <a:srgbClr val="1F2937"/>
                </a:solidFill>
                <a:latin typeface="Microsoft YaHei"/>
                <a:ea typeface="Microsoft YaHei"/>
              </a:rPr>
              <a:t/>
            </a:r>
          </a:p>
          <a:p>
            <a:pPr algn="l">
              <a:lnSpc>
                <a:spcPct val="110000"/>
              </a:lnSpc>
            </a:pPr>
            <a:r>
              <a:rPr lang="zh-CN" sz="1400">
                <a:solidFill>
                  <a:srgbClr val="1F2937"/>
                </a:solidFill>
                <a:latin typeface="Microsoft YaHei"/>
                <a:ea typeface="Microsoft YaHei"/>
              </a:rPr>
              <a:t>• 重点病种模板</a:t>
            </a:r>
          </a:p>
          <a:p>
            <a:pPr algn="l">
              <a:lnSpc>
                <a:spcPct val="110000"/>
              </a:lnSpc>
            </a:pPr>
            <a:r>
              <a:rPr lang="zh-CN" sz="1400">
                <a:solidFill>
                  <a:srgbClr val="1F2937"/>
                </a:solidFill>
                <a:latin typeface="Microsoft YaHei"/>
                <a:ea typeface="Microsoft YaHei"/>
              </a:rPr>
              <a:t>• 科室关注点库</a:t>
            </a:r>
          </a:p>
          <a:p>
            <a:pPr algn="l">
              <a:lnSpc>
                <a:spcPct val="110000"/>
              </a:lnSpc>
            </a:pPr>
            <a:r>
              <a:rPr lang="zh-CN" sz="1400">
                <a:solidFill>
                  <a:srgbClr val="1F2937"/>
                </a:solidFill>
                <a:latin typeface="Microsoft YaHei"/>
                <a:ea typeface="Microsoft YaHei"/>
              </a:rPr>
              <a:t>• 研究小组协作</a:t>
            </a:r>
          </a:p>
          <a:p>
            <a:pPr algn="l">
              <a:lnSpc>
                <a:spcPct val="110000"/>
              </a:lnSpc>
            </a:pPr>
            <a:r>
              <a:rPr lang="zh-CN" sz="1400">
                <a:solidFill>
                  <a:srgbClr val="1F2937"/>
                </a:solidFill>
                <a:latin typeface="Microsoft YaHei"/>
                <a:ea typeface="Microsoft YaHei"/>
              </a:rPr>
              <a:t>• 论文产出看板</a:t>
            </a:r>
          </a:p>
        </p:txBody>
      </p:sp>
      <p:sp>
        <p:nvSpPr>
          <p:cNvPr id="40" name="Shape 40"/>
          <p:cNvSpPr txBox="1"/>
          <p:nvPr/>
        </p:nvSpPr>
        <p:spPr>
          <a:xfrm>
            <a:off x="8458200" y="1143000"/>
            <a:ext cx="2194560" cy="3474720"/>
          </a:xfrm>
          <a:prstGeom prst="roundRect">
            <a:avLst/>
          </a:prstGeom>
          <a:solidFill>
            <a:srgbClr val="F5F3FF"/>
          </a:solidFill>
          <a:ln w="12700">
            <a:solidFill>
              <a:srgbClr val="DDD6FE"/>
            </a:solidFill>
          </a:ln>
        </p:spPr>
        <p:txBody>
          <a:bodyPr wrap="square" lIns="91440" tIns="45720" rIns="91440" bIns="45720"/>
          <a:lstStyle/>
          <a:p>
            <a:pPr algn="l">
              <a:lnSpc>
                <a:spcPct val="110000"/>
              </a:lnSpc>
            </a:pPr>
            <a:r>
              <a:rPr lang="zh-CN" sz="1400">
                <a:solidFill>
                  <a:srgbClr val="1F2937"/>
                </a:solidFill>
                <a:latin typeface="Microsoft YaHei"/>
                <a:ea typeface="Microsoft YaHei"/>
              </a:rPr>
              <a:t>院级扩展</a:t>
            </a:r>
          </a:p>
          <a:p>
            <a:pPr algn="l">
              <a:lnSpc>
                <a:spcPct val="110000"/>
              </a:lnSpc>
            </a:pPr>
            <a:r>
              <a:rPr lang="zh-CN" sz="1400">
                <a:solidFill>
                  <a:srgbClr val="1F2937"/>
                </a:solidFill>
                <a:latin typeface="Microsoft YaHei"/>
                <a:ea typeface="Microsoft YaHei"/>
              </a:rPr>
              <a:t/>
            </a:r>
          </a:p>
          <a:p>
            <a:pPr algn="l">
              <a:lnSpc>
                <a:spcPct val="110000"/>
              </a:lnSpc>
            </a:pPr>
            <a:r>
              <a:rPr lang="zh-CN" sz="1400">
                <a:solidFill>
                  <a:srgbClr val="1F2937"/>
                </a:solidFill>
                <a:latin typeface="Microsoft YaHei"/>
                <a:ea typeface="Microsoft YaHei"/>
              </a:rPr>
              <a:t>• 院级知识库</a:t>
            </a:r>
          </a:p>
          <a:p>
            <a:pPr algn="l">
              <a:lnSpc>
                <a:spcPct val="110000"/>
              </a:lnSpc>
            </a:pPr>
            <a:r>
              <a:rPr lang="zh-CN" sz="1400">
                <a:solidFill>
                  <a:srgbClr val="1F2937"/>
                </a:solidFill>
                <a:latin typeface="Microsoft YaHei"/>
                <a:ea typeface="Microsoft YaHei"/>
              </a:rPr>
              <a:t>• 科研项目管理</a:t>
            </a:r>
          </a:p>
          <a:p>
            <a:pPr algn="l">
              <a:lnSpc>
                <a:spcPct val="110000"/>
              </a:lnSpc>
            </a:pPr>
            <a:r>
              <a:rPr lang="zh-CN" sz="1400">
                <a:solidFill>
                  <a:srgbClr val="1F2937"/>
                </a:solidFill>
                <a:latin typeface="Microsoft YaHei"/>
                <a:ea typeface="Microsoft YaHei"/>
              </a:rPr>
              <a:t>• HIS/EMR 数据接口</a:t>
            </a:r>
          </a:p>
          <a:p>
            <a:pPr algn="l">
              <a:lnSpc>
                <a:spcPct val="110000"/>
              </a:lnSpc>
            </a:pPr>
            <a:r>
              <a:rPr lang="zh-CN" sz="1400">
                <a:solidFill>
                  <a:srgbClr val="1F2937"/>
                </a:solidFill>
                <a:latin typeface="Microsoft YaHei"/>
                <a:ea typeface="Microsoft YaHei"/>
              </a:rPr>
              <a:t>• 多模型网关</a:t>
            </a:r>
          </a:p>
          <a:p>
            <a:pPr algn="l">
              <a:lnSpc>
                <a:spcPct val="110000"/>
              </a:lnSpc>
            </a:pPr>
            <a:r>
              <a:rPr lang="zh-CN" sz="1400">
                <a:solidFill>
                  <a:srgbClr val="1F2937"/>
                </a:solidFill>
                <a:latin typeface="Microsoft YaHei"/>
                <a:ea typeface="Microsoft YaHei"/>
              </a:rPr>
              <a:t>• 合规审计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7FA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Shape 10"/>
          <p:cNvSpPr txBox="1"/>
          <p:nvPr/>
        </p:nvSpPr>
        <p:spPr>
          <a:xfrm>
            <a:off x="731520" y="685800"/>
            <a:ext cx="3657600" cy="548640"/>
          </a:xfrm>
          <a:prstGeom prst="roundRect">
            <a:avLst/>
          </a:prstGeom>
          <a:solidFill>
            <a:srgbClr val="1677FF"/>
          </a:solidFill>
          <a:ln>
            <a:noFill/>
          </a:ln>
        </p:spPr>
        <p:txBody>
          <a:bodyPr wrap="square" lIns="91440" tIns="45720" rIns="91440" bIns="45720"/>
          <a:lstStyle/>
          <a:p>
            <a:pPr algn="ctr">
              <a:lnSpc>
                <a:spcPct val="110000"/>
              </a:lnSpc>
            </a:pPr>
            <a:r>
              <a:rPr lang="zh-CN" sz="2600" b="1">
                <a:solidFill>
                  <a:srgbClr val="FFFFFF"/>
                </a:solidFill>
                <a:latin typeface="Microsoft YaHei"/>
                <a:ea typeface="Microsoft YaHei"/>
              </a:rPr>
              <a:t>MEKS</a:t>
            </a:r>
          </a:p>
        </p:txBody>
      </p:sp>
      <p:sp>
        <p:nvSpPr>
          <p:cNvPr id="20" name="Shape 20"/>
          <p:cNvSpPr txBox="1"/>
          <p:nvPr/>
        </p:nvSpPr>
        <p:spPr>
          <a:xfrm>
            <a:off x="822960" y="1508760"/>
            <a:ext cx="9509760" cy="914400"/>
          </a:xfrm>
          <a:prstGeom prst="roundRect">
            <a:avLst/>
          </a:prstGeom>
          <a:noFill/>
          <a:ln>
            <a:noFill/>
          </a:ln>
        </p:spPr>
        <p:txBody>
          <a:bodyPr wrap="square" lIns="91440" tIns="45720" rIns="91440" bIns="45720"/>
          <a:lstStyle/>
          <a:p>
            <a:pPr algn="ctr">
              <a:lnSpc>
                <a:spcPct val="110000"/>
              </a:lnSpc>
            </a:pPr>
            <a:r>
              <a:rPr lang="zh-CN" sz="3000" b="1">
                <a:solidFill>
                  <a:srgbClr val="111827"/>
                </a:solidFill>
                <a:latin typeface="Microsoft YaHei"/>
                <a:ea typeface="Microsoft YaHei"/>
              </a:rPr>
              <a:t>把医生每天遇到的临床问题，转化为可沉淀、可协作、可发表的科研产出</a:t>
            </a:r>
          </a:p>
        </p:txBody>
      </p:sp>
      <p:sp>
        <p:nvSpPr>
          <p:cNvPr id="30" name="Shape 30"/>
          <p:cNvSpPr txBox="1"/>
          <p:nvPr/>
        </p:nvSpPr>
        <p:spPr>
          <a:xfrm>
            <a:off x="1920240" y="3063240"/>
            <a:ext cx="8046720" cy="685800"/>
          </a:xfrm>
          <a:prstGeom prst="roundRect">
            <a:avLst/>
          </a:prstGeom>
          <a:solidFill>
            <a:srgbClr val="111827"/>
          </a:solidFill>
          <a:ln>
            <a:noFill/>
          </a:ln>
        </p:spPr>
        <p:txBody>
          <a:bodyPr wrap="square" lIns="91440" tIns="45720" rIns="91440" bIns="45720"/>
          <a:lstStyle/>
          <a:p>
            <a:pPr algn="ctr">
              <a:lnSpc>
                <a:spcPct val="110000"/>
              </a:lnSpc>
            </a:pPr>
            <a:r>
              <a:rPr lang="zh-CN" sz="1900" b="1">
                <a:solidFill>
                  <a:srgbClr val="FFFFFF"/>
                </a:solidFill>
                <a:latin typeface="Microsoft YaHei"/>
                <a:ea typeface="Microsoft YaHei"/>
              </a:rPr>
              <a:t>让医生主动买单的不是“AI 概念”，而是更快形成可信科研产出</a:t>
            </a:r>
          </a:p>
        </p:txBody>
      </p:sp>
      <p:sp>
        <p:nvSpPr>
          <p:cNvPr id="40" name="Shape 40"/>
          <p:cNvSpPr txBox="1"/>
          <p:nvPr/>
        </p:nvSpPr>
        <p:spPr>
          <a:xfrm>
            <a:off x="2926080" y="4160520"/>
            <a:ext cx="6035040" cy="59436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5E7EB"/>
            </a:solidFill>
          </a:ln>
        </p:spPr>
        <p:txBody>
          <a:bodyPr wrap="square" lIns="91440" tIns="45720" rIns="91440" bIns="45720"/>
          <a:lstStyle/>
          <a:p>
            <a:pPr algn="ctr">
              <a:lnSpc>
                <a:spcPct val="110000"/>
              </a:lnSpc>
            </a:pPr>
            <a:r>
              <a:rPr lang="zh-CN" sz="1500">
                <a:solidFill>
                  <a:srgbClr val="1F2937"/>
                </a:solidFill>
                <a:latin typeface="Microsoft YaHei"/>
                <a:ea typeface="Microsoft YaHei"/>
              </a:rPr>
              <a:t>前沿发现 + 论文鉴真 + 精读卡片 + 写作草稿：让每次使用都留下资产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MEKS">
  <a:themeElements>
    <a:clrScheme name="MEKS">
      <a:dk1>
        <a:srgbClr val="111827"/>
      </a:dk1>
      <a:lt1>
        <a:srgbClr val="FFFFFF"/>
      </a:lt1>
      <a:dk2>
        <a:srgbClr val="1F2937"/>
      </a:dk2>
      <a:lt2>
        <a:srgbClr val="F7F9FC"/>
      </a:lt2>
      <a:accent1>
        <a:srgbClr val="1677FF"/>
      </a:accent1>
      <a:accent2>
        <a:srgbClr val="10B981"/>
      </a:accent2>
      <a:accent3>
        <a:srgbClr val="F59E0B"/>
      </a:accent3>
      <a:accent4>
        <a:srgbClr val="EF4444"/>
      </a:accent4>
      <a:accent5>
        <a:srgbClr val="6366F1"/>
      </a:accent5>
      <a:accent6>
        <a:srgbClr val="14B8A6"/>
      </a:accent6>
      <a:hlink>
        <a:srgbClr val="1677FF"/>
      </a:hlink>
      <a:folHlink>
        <a:srgbClr val="6366F1"/>
      </a:folHlink>
    </a:clrScheme>
    <a:fontScheme name="MEKS">
      <a:majorFont>
        <a:latin typeface="Microsoft YaHei"/>
        <a:ea typeface="Microsoft YaHei"/>
      </a:majorFont>
      <a:minorFont>
        <a:latin typeface="Microsoft YaHei"/>
        <a:ea typeface="Microsoft YaHei"/>
      </a:minorFont>
    </a:fontScheme>
    <a:fmtScheme name="MEKS">
      <a:fillStyleLst/>
      <a:lnStyleLst/>
      <a:effectStyleLst/>
      <a:bgFillStyleLst/>
    </a:fmtScheme>
  </a:themeElements>
</a:theme>
</file>

<file path=docProps/app.xml><?xml version="1.0" encoding="utf-8"?>
<Properties xmlns="http://schemas.openxmlformats.org/officeDocument/2006/extended-properties" xmlns:vt="http://schemas.openxmlformats.org/officeDocument/2006/docPropsVTypes">
  <Application>MEKS</Application>
  <PresentationFormat>宽屏</PresentationFormat>
  <Slides>17</Slides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xsi="http://www.w3.org/2001/XMLSchema-instance">
  <dc:title>MEKS 医生科研 AI 工作台产品价值说明</dc:title>
  <dc:creator>MEKS</dc:creator>
  <cp:lastModifiedBy>MEKS</cp:lastModifiedBy>
</cp:coreProperties>
</file>